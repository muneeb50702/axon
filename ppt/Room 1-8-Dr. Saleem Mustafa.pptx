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63" r:id="rId1"/>
  </p:sldMasterIdLst>
  <p:notesMasterIdLst>
    <p:notesMasterId r:id="rId13"/>
  </p:notesMasterIdLst>
  <p:handoutMasterIdLst>
    <p:handoutMasterId r:id="rId14"/>
  </p:handoutMasterIdLst>
  <p:sldIdLst>
    <p:sldId id="261" r:id="rId2"/>
    <p:sldId id="278" r:id="rId3"/>
    <p:sldId id="282" r:id="rId4"/>
    <p:sldId id="274" r:id="rId5"/>
    <p:sldId id="269" r:id="rId6"/>
    <p:sldId id="271" r:id="rId7"/>
    <p:sldId id="273" r:id="rId8"/>
    <p:sldId id="265" r:id="rId9"/>
    <p:sldId id="286" r:id="rId19"/>
    <p:sldId id="284" r:id="rId10"/>
    <p:sldId id="285" r:id="rId1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 autoAdjust="0"/>
    <p:restoredTop sz="94598" autoAdjust="0"/>
  </p:normalViewPr>
  <p:slideViewPr>
    <p:cSldViewPr snapToGrid="0">
      <p:cViewPr varScale="1">
        <p:scale>
          <a:sx n="60" d="100"/>
          <a:sy n="60" d="100"/>
        </p:scale>
        <p:origin x="96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/>
          <a:lstStyle/>
          <a:p>
            <a:pPr>
              <a:defRPr sz="2000" b="1" strike="noStrike" spc="15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DejaVu Sans"/>
              </a:defRPr>
            </a:pPr>
            <a:r>
              <a:rPr lang="en-US" sz="2000" b="1" strike="noStrike" spc="15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DejaVu Sans"/>
              </a:rPr>
              <a:t>Yearly number of Photos Taken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5673989578932546"/>
          <c:y val="0.17365193846452726"/>
          <c:w val="0.78222820729474718"/>
          <c:h val="0.60153292293495553"/>
        </c:manualLayout>
      </c:layout>
      <c:lineChart>
        <c:grouping val="standard"/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No. of Photos</c:v>
                </c:pt>
              </c:strCache>
            </c:strRef>
          </c:tx>
          <c:spPr>
            <a:ln w="22320">
              <a:solidFill>
                <a:srgbClr val="5B9BD5"/>
              </a:solidFill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2.3742078580481621E-2"/>
                  <c:y val="-3.855073519591058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962-4768-80B0-6F14B1F66E8E}"/>
                </c:ext>
              </c:extLst>
            </c:dLbl>
            <c:dLbl>
              <c:idx val="1"/>
              <c:layout>
                <c:manualLayout>
                  <c:x val="-7.4311364596535701E-2"/>
                  <c:y val="-1.92753675979552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962-4768-80B0-6F14B1F66E8E}"/>
                </c:ext>
              </c:extLst>
            </c:dLbl>
            <c:dLbl>
              <c:idx val="2"/>
              <c:layout>
                <c:manualLayout>
                  <c:x val="-4.8423109421208282E-2"/>
                  <c:y val="-2.69855146371373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962-4768-80B0-6F14B1F66E8E}"/>
                </c:ext>
              </c:extLst>
            </c:dLbl>
            <c:dLbl>
              <c:idx val="3"/>
              <c:layout>
                <c:manualLayout>
                  <c:x val="-5.0658710040839321E-2"/>
                  <c:y val="-1.92753675979552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962-4768-80B0-6F14B1F66E8E}"/>
                </c:ext>
              </c:extLst>
            </c:dLbl>
            <c:dLbl>
              <c:idx val="4"/>
              <c:layout>
                <c:manualLayout>
                  <c:x val="-5.6202999577524296E-2"/>
                  <c:y val="-3.855073519591058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962-4768-80B0-6F14B1F66E8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/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660</c:v>
                </c:pt>
                <c:pt idx="1">
                  <c:v>810</c:v>
                </c:pt>
                <c:pt idx="2">
                  <c:v>1000</c:v>
                </c:pt>
                <c:pt idx="3">
                  <c:v>1100</c:v>
                </c:pt>
                <c:pt idx="4">
                  <c:v>1200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62-4768-80B0-6F14B1F66E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>
              <a:noFill/>
            </a:ln>
          </c:spPr>
        </c:hiLowLines>
        <c:smooth val="0"/>
        <c:axId val="125861888"/>
        <c:axId val="125863808"/>
      </c:lineChart>
      <c:catAx>
        <c:axId val="125861888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600" b="0" strike="noStrike" spc="-1">
                    <a:solidFill>
                      <a:srgbClr val="595959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DejaVu Sans"/>
                  </a:defRPr>
                </a:pPr>
                <a:r>
                  <a:rPr lang="en-US" sz="1600" b="0" strike="noStrike" spc="-1">
                    <a:solidFill>
                      <a:srgbClr val="595959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DejaVu Sans"/>
                  </a:rPr>
                  <a:t>years</a:t>
                </a:r>
              </a:p>
            </c:rich>
          </c:tx>
          <c:layout>
            <c:manualLayout>
              <c:xMode val="edge"/>
              <c:yMode val="edge"/>
              <c:x val="0.49840787034836698"/>
              <c:y val="0.94591346153846201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400" b="0" strike="noStrike" spc="15">
                <a:solidFill>
                  <a:srgbClr val="595959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DejaVu Sans"/>
              </a:defRPr>
            </a:pPr>
            <a:endParaRPr lang="en-US"/>
          </a:p>
        </c:txPr>
        <c:crossAx val="125863808"/>
        <c:crosses val="autoZero"/>
        <c:auto val="1"/>
        <c:lblAlgn val="ctr"/>
        <c:lblOffset val="100"/>
        <c:noMultiLvlLbl val="1"/>
      </c:catAx>
      <c:valAx>
        <c:axId val="125863808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400" b="0" strike="noStrike" spc="-1">
                    <a:solidFill>
                      <a:srgbClr val="595959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DejaVu Sans"/>
                  </a:defRPr>
                </a:pPr>
                <a:r>
                  <a:rPr lang="en-US" sz="1400" b="0" strike="noStrike" spc="-1">
                    <a:solidFill>
                      <a:srgbClr val="595959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DejaVu Sans"/>
                  </a:rPr>
                  <a:t>Billion</a:t>
                </a:r>
              </a:p>
            </c:rich>
          </c:tx>
          <c:layout>
            <c:manualLayout>
              <c:xMode val="edge"/>
              <c:yMode val="edge"/>
              <c:x val="6.8913074473646698E-3"/>
              <c:y val="0.39259178321678301"/>
            </c:manualLayout>
          </c:layout>
          <c:overlay val="0"/>
        </c:title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1400" b="0" strike="noStrike" spc="15">
                <a:solidFill>
                  <a:srgbClr val="595959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DejaVu Sans"/>
              </a:defRPr>
            </a:pPr>
            <a:endParaRPr lang="en-US"/>
          </a:p>
        </c:txPr>
        <c:crossAx val="125861888"/>
        <c:crosses val="autoZero"/>
        <c:crossBetween val="midCat"/>
      </c:valAx>
      <c:spPr>
        <a:gradFill>
          <a:gsLst>
            <a:gs pos="0">
              <a:srgbClr val="FFFFFF"/>
            </a:gs>
            <a:gs pos="100000">
              <a:srgbClr val="F2F2F2"/>
            </a:gs>
          </a:gsLst>
          <a:lin ang="5400000"/>
        </a:gradFill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noFill/>
    </a:ln>
  </c:spPr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6D64E3-5D88-D290-75BE-2D910574C3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C453B-0FE8-25F8-D0CB-A84DB026DC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10B063-250C-429E-A8BF-7319391C6F55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EB1DE4-8163-85D6-175E-B7C4C534B3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11C6D-0570-1239-CC25-AAC00CD6CB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C975E-0997-4697-96EB-C63A933B5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3725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D04B44-9D7C-43FA-A7E8-5AF8C75640D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6EE081-2D8F-4867-9918-8A1AB114F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18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time of Presentation</a:t>
            </a:r>
            <a:r>
              <a:rPr lang="en-US" baseline="0" dirty="0"/>
              <a:t> should not exceed  6 mints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6537E7-FA4B-4159-86BE-DD5AA3DBDA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268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0CC3-79EA-792F-5687-D0ADE652A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B555A-D0FC-E7E3-139C-904C69AC4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8B41-ECF7-015F-E011-C8128DDF4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9DD4A-C94C-4E8F-A191-88A43E9F0B3F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DEC18-CC85-0D0A-425C-47162090E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207B1-5A2F-4E10-85DD-E768F127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36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69F6A-7BC0-9F53-AAF8-43130D14F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2B204-CECE-0510-75A5-0335AC530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B331B-523C-3249-79A5-B28E0FF02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D1EC5-20A1-712F-5D7C-5D9AB02F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382FA-C205-BA1F-B7F5-A1926F674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828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F5EAC-1F88-811F-0731-13DA2669B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92552-52A2-B2FC-D94F-B45A56BF9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B9F44-303D-45D7-12DC-03A45718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C649B-D0A5-708C-157B-F7C992C89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ADE2B-71BA-DF6C-35D6-DFCA35F8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00058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F7902-F071-5900-E102-3E14F25DB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74C2D-919A-B2F6-66D2-B16B1C779A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B0FD5-103F-FC03-E635-2F73854D7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251C4-5B75-4B80-33DC-581FF1823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3B752-AF8F-C2DF-68D3-6579C075F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47D0A-4DFB-6044-8120-8DD492524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3946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650A9-E4DB-FCBC-9FF2-F1B7AE8B6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54CA8-9B9C-D8F8-A477-AD9EE371B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3EBBBD-FE38-D459-6778-F241A61D4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AB5B3-F84C-7BEC-32A9-8E3A56D5D3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0BEA93-8F82-8B89-A4D2-058E980226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CE77D5-7D07-01C3-166E-2F217C2BC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D16741-5AF1-64BB-1FAC-99F12E1D6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CF9CAD-0CAA-2D1C-9C70-D870CEDD6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26488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19E9-9D5A-0AE1-C6BF-566A0DBCD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5946B5-438D-560C-EE83-2844F280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6B07E-CF47-4C3A-80FA-C2777D1ECED6}" type="datetime1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1F2362-4642-FAC4-E835-BFADE3BDB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FF9FF-6295-ECBF-5A29-415529735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56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CFB275-575F-A0D4-1F62-2280CF3E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059EA-730D-4B1A-8883-6A9F9C874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63362-8086-52E3-81DB-32ED03C2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078307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6EE1-31DB-B07F-0724-36EDB2C8F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A9E8D-CACF-88C0-E316-BB99BAB9B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EC894-CC10-1811-3F52-00C0606E6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3CB9E-A6C2-1539-7561-24ED5421D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5CF2E-EB68-E4F3-B8CE-8CDD203A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98324-57B0-A466-5658-DF289520F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31120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8765-BF0A-8F31-F783-1B41B0852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3C19DD-15F7-547A-5997-A8F25C49B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DC315-BC9C-C859-D317-27F762211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9EA33-41D0-B0F9-DCAB-A2FE63B8E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0E63F-684E-91BA-8B4A-89BEE3E77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19766-9931-3085-EC55-A4E02C952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67390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73537-FEF6-D3CB-9C82-94906D7D6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6C64B7-25A0-3581-9B8D-8063CFFE1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20A62-7877-02BE-DCB2-B848AB893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A7147-E8F8-E0D4-5E62-02D0150A0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C62EF-9ADE-BA92-D41F-924FB909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62998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C08710-3102-CCA4-9D33-8BDDD9CBD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0662D6-D169-EC27-594B-DBB29F748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CAE2A-B506-3C13-16AA-859B1E8C8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A43F4-DDA1-F7EC-F00E-B4DD76898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7DDC6-4C1E-2646-16DB-5D3D79E1C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185876"/>
      </p:ext>
    </p:extLst>
  </p:cSld>
  <p:clrMapOvr>
    <a:masterClrMapping/>
  </p:clrMapOvr>
  <p:hf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6C50AE-0410-5BF9-C100-F677669A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FF094-342C-7011-5257-D0F8DE924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83B97-3439-3FB9-BEFC-9169B1983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FAD95-7697-E72D-FF50-43568CF33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Department of Computer Science, FCS&amp;IT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0DB97-EEDC-42F5-A3CC-F50013E1F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06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/>
          <p:cNvSpPr/>
          <p:nvPr/>
        </p:nvSpPr>
        <p:spPr>
          <a:xfrm>
            <a:off x="1524360" y="417095"/>
            <a:ext cx="9143280" cy="19354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 wrap="square"/>
          <a:lstStyle/>
          <a:p>
            <a:pPr algn="ctr"/>
            <a:r>
              <a:rPr sz="4000" b="1"/>
              <a:t>Project AXON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sz="1800" b="0"/>
              <a:t>An Offline, Self-Healing On-Device AI Agent for Android
with Learned Skill Compilation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A41CE2C1-7D4E-796A-4914-0757B21A5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026255"/>
              </p:ext>
            </p:extLst>
          </p:nvPr>
        </p:nvGraphicFramePr>
        <p:xfrm>
          <a:off x="2113612" y="2750629"/>
          <a:ext cx="765997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128">
                  <a:extLst>
                    <a:ext uri="{9D8B030D-6E8A-4147-A177-3AD203B41FA5}">
                      <a16:colId xmlns:a16="http://schemas.microsoft.com/office/drawing/2014/main" val="2644915333"/>
                    </a:ext>
                  </a:extLst>
                </a:gridCol>
                <a:gridCol w="283010">
                  <a:extLst>
                    <a:ext uri="{9D8B030D-6E8A-4147-A177-3AD203B41FA5}">
                      <a16:colId xmlns:a16="http://schemas.microsoft.com/office/drawing/2014/main" val="1635515933"/>
                    </a:ext>
                  </a:extLst>
                </a:gridCol>
                <a:gridCol w="3789044">
                  <a:extLst>
                    <a:ext uri="{9D8B030D-6E8A-4147-A177-3AD203B41FA5}">
                      <a16:colId xmlns:a16="http://schemas.microsoft.com/office/drawing/2014/main" val="3401447390"/>
                    </a:ext>
                  </a:extLst>
                </a:gridCol>
                <a:gridCol w="1838792">
                  <a:extLst>
                    <a:ext uri="{9D8B030D-6E8A-4147-A177-3AD203B41FA5}">
                      <a16:colId xmlns:a16="http://schemas.microsoft.com/office/drawing/2014/main" val="3954960962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r>
                        <a:rPr sz="1300" b="1"/>
                        <a:t>Group / BSCS-J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STUDENT NAME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SAP ID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491136"/>
                  </a:ext>
                </a:extLst>
              </a:tr>
              <a:tr h="370840">
                <a:tc vMerge="1"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Muhammad Muneeb  (Group Leader)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SU92-BSCSM-F23-___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995347"/>
                  </a:ext>
                </a:extLst>
              </a:tr>
              <a:tr h="370840">
                <a:tc vMerge="1"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Nasar Fareed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SU92-BSCSM-F23-___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488919"/>
                  </a:ext>
                </a:extLst>
              </a:tr>
              <a:tr h="370840">
                <a:tc vMerge="1"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Danish Ali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SU92-BSCSM-F23-___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041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300" b="1"/>
                        <a:t>Supervisor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sz="1300" b="1"/>
                        <a:t>Dr. Saleem Mustafa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rPr sz="1300" b="1"/>
                        <a:t>Group ID: CS-025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672999"/>
                  </a:ext>
                </a:extLst>
              </a:tr>
            </a:tbl>
          </a:graphicData>
        </a:graphic>
      </p:graphicFrame>
      <p:pic>
        <p:nvPicPr>
          <p:cNvPr id="20" name="Superior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960" y="167890"/>
            <a:ext cx="731520" cy="731520"/>
          </a:xfrm>
          <a:prstGeom prst="rect">
            <a:avLst/>
          </a:prstGeom>
        </p:spPr>
      </p:pic>
      <p:sp>
        <p:nvSpPr>
          <p:cNvPr id="21" name="Superior University Wordmark"/>
          <p:cNvSpPr txBox="1"/>
          <p:nvPr/>
        </p:nvSpPr>
        <p:spPr>
          <a:xfrm>
            <a:off x="10667640" y="16789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800" b="1" dirty="0">
                <a:solidFill>
                  <a:srgbClr val="8F1F7E"/>
                </a:solidFill>
                <a:latin typeface="Georgia" panose="02040502050405020303" pitchFamily="18" charset="0"/>
              </a:rPr>
              <a:t>SUPERIOR</a:t>
            </a:r>
          </a:p>
          <a:p>
            <a:pPr algn="l">
              <a:spcBef>
                <a:spcPts val="0"/>
              </a:spcBef>
            </a:pPr>
            <a:r>
              <a:rPr lang="en-US" sz="1200" spc="150" dirty="0">
                <a:solidFill>
                  <a:srgbClr val="595959"/>
                </a:solidFill>
                <a:latin typeface="Georgia" panose="02040502050405020303" pitchFamily="18" charset="0"/>
              </a:rPr>
              <a:t>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827" y="333751"/>
            <a:ext cx="8261808" cy="1325563"/>
          </a:xfrm>
        </p:spPr>
        <p:txBody>
          <a:bodyPr/>
          <a:lstStyle/>
          <a:p>
            <a:r>
              <a:rPr sz="3200" b="1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98103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156082"/>
                </a:solidFill>
              </a:rPr>
              <a:t>Two billion people use mid-range Android phones on slow, costly or intermittent internet — every AI assistant today sends their screen to a cloud server.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56082"/>
                </a:solidFill>
              </a:rPr>
              <a:t>AXON runs a 1-billion-parameter AI model entirely on the phone.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1F1F1F"/>
                </a:solidFill>
              </a:rPr>
              <a:t>No internet. No cloud API. No per-message cost. The app has no network permission at all.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56082"/>
                </a:solidFill>
              </a:rPr>
              <a:t>It operates the phone the way a person does — reads the screen, then taps.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1F1F1F"/>
                </a:solidFill>
              </a:rPr>
              <a:t>Send a message, set an alarm, change a setting, navigate — by natural-language request.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56082"/>
                </a:solidFill>
              </a:rPr>
              <a:t>And it gets faster the more it is used.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1F1F1F"/>
                </a:solidFill>
              </a:rPr>
              <a:t>Once AXON has learned a task, it repeats it with ZERO AI calls — measured at 8,407× faster.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D08A8-5EA6-CD19-B76C-BFA560E01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8F5E5-7932-6ECC-7B34-F7AA32B36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Superior University Logo">
            <a:extLst>
              <a:ext uri="{FF2B5EF4-FFF2-40B4-BE49-F238E27FC236}">
                <a16:creationId xmlns:a16="http://schemas.microsoft.com/office/drawing/2014/main" id="{32129A7E-DF81-D63F-CE88-54E258464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838" y="24149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20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827" y="333751"/>
            <a:ext cx="8261808" cy="1325563"/>
          </a:xfrm>
        </p:spPr>
        <p:txBody>
          <a:bodyPr/>
          <a:lstStyle/>
          <a:p>
            <a:r>
              <a:rPr sz="3200" b="1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83080"/>
            <a:ext cx="5394960" cy="420624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56082"/>
                </a:solidFill>
              </a:rPr>
              <a:t>Why phone AI is cloud-based today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</a:rPr>
              <a:t>Understanding a screen and planning multi-step actions has needed large models.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</a:rPr>
              <a:t>Large models do not fit on a phone, so the screen goes to a server.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56082"/>
                </a:solidFill>
              </a:rPr>
              <a:t>What changed in 2025–2026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</a:rPr>
              <a:t>Small models (Gemma, Phi, Qwen) at 1–4B now run usefully on mid-range phones.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</a:rPr>
              <a:t>Constrained decoding (GBNF grammars) can force a model's output to be valid by construction.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</a:rPr>
              <a:t>Android exposes a structured UI tree — machine-readable text, not screenshots.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D08A8-5EA6-CD19-B76C-BFA560E01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8F5E5-7932-6ECC-7B34-F7AA32B36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Superior University Logo">
            <a:extLst>
              <a:ext uri="{FF2B5EF4-FFF2-40B4-BE49-F238E27FC236}">
                <a16:creationId xmlns:a16="http://schemas.microsoft.com/office/drawing/2014/main" id="{040A6884-9A67-8771-529C-99AEE8AED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163722"/>
            <a:ext cx="731520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17830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082"/>
                </a:solidFill>
              </a:rPr>
              <a:t>The gap that remains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40280"/>
            <a:ext cx="5349240" cy="1051560"/>
          </a:xfrm>
          <a:prstGeom prst="roundRect">
            <a:avLst/>
          </a:prstGeom>
          <a:solidFill>
            <a:srgbClr val="B4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 1B model is small enough to fit — but not reliable enough to trust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It invents buttons that do not exist, and misjudges whether an action worked.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474720"/>
            <a:ext cx="5349240" cy="105156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AXON's thesis: reliability is an ARCHITECTURE problem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Do not make the model smarter. Make the model's freedom smaller.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5349240" cy="1051560"/>
          </a:xfrm>
          <a:prstGeom prst="roundRect">
            <a:avLst/>
          </a:prstGeom>
          <a:solidFill>
            <a:srgbClr val="1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Target device: TECNO Camon 20 (~PKR 40,000)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MediaTek Helio G85 · 8 GB RAM — not a flagship, on purpose.</a:t>
            </a:r>
          </a:p>
        </p:txBody>
      </p:sp>
    </p:spTree>
    <p:extLst>
      <p:ext uri="{BB962C8B-B14F-4D97-AF65-F5344CB8AC3E}">
        <p14:creationId xmlns:p14="http://schemas.microsoft.com/office/powerpoint/2010/main" val="2056450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Problem Statement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817688"/>
            <a:ext cx="9804662" cy="4411662"/>
          </a:xfrm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56082"/>
                </a:solidFill>
              </a:rPr>
              <a:t>Problem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</a:rPr>
              <a:t>A small on-device model asked to operate a phone hallucinates: it names buttons that are not on screen, believes failed actions succeeded, and derails by step 4 of a 6-step task.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</a:rPr>
              <a:t>Cloud agents are accurate but structurally unavailable — they need constant connectivity, cost money per action, and upload private screens (banking, health, chats) to third-party servers.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56082"/>
                </a:solidFill>
              </a:rPr>
              <a:t>Why solving it matters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</a:rPr>
              <a:t>Privacy by construction: screen contents that never leave the device cannot be leaked.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</a:rPr>
              <a:t>Access: works where data is expensive or unreliable — and costs nothing per use.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</a:rPr>
              <a:t>Assistive value: a voice-driven bridge for low-literacy and low-vision users who can speak a request but cannot navigate a complex UI.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56082"/>
                </a:solidFill>
              </a:rPr>
              <a:t>Impact if successful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</a:rPr>
              <a:t>Demonstrates that a 1B offline model can be made reliable through architecture — turning "small models are unreliable" into a measured, defeated claim.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09A9DD-1DBE-8687-1A86-D23A20990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38484-8D04-9102-ADB3-1BB492CCD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4</a:t>
            </a:fld>
            <a:endParaRPr lang="en-US"/>
          </a:p>
        </p:txBody>
      </p:sp>
      <p:pic>
        <p:nvPicPr>
          <p:cNvPr id="5" name="Superior University Logo">
            <a:extLst>
              <a:ext uri="{FF2B5EF4-FFF2-40B4-BE49-F238E27FC236}">
                <a16:creationId xmlns:a16="http://schemas.microsoft.com/office/drawing/2014/main" id="{AB80FDF4-3E4C-6679-70BD-9B19774DA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136525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40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Aims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156082"/>
                </a:solidFill>
              </a:rPr>
              <a:t>Objective 1 — Constrained on-device action generation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1F1F1F"/>
                </a:solidFill>
              </a:rPr>
              <a:t>Run a Q4-quantized ≤2B model fully offline; 100% structurally valid actions across ≥500 generations.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156082"/>
                </a:solidFill>
              </a:rPr>
              <a:t>Objective 2 — Safe execution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1F1F1F"/>
                </a:solidFill>
              </a:rPr>
              <a:t>Planner–executor split with a precondition gate that rejects impossible actions BEFORE the device is touched.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156082"/>
                </a:solidFill>
              </a:rPr>
              <a:t>Objective 3 — Deterministic verification and self-healing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1F1F1F"/>
                </a:solidFill>
              </a:rPr>
              <a:t>Verify every action by UI-tree diff (no AI judging its own work); recover ≥60% of injected failures.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156082"/>
                </a:solidFill>
              </a:rPr>
              <a:t>Objective 4 — Learned skill compilation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1F1F1F"/>
                </a:solidFill>
              </a:rPr>
              <a:t>Compile a verified task trace into a replayable skill: 0 AI calls on repeat, ≥5× faster than a cold run.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156082"/>
                </a:solidFill>
              </a:rPr>
              <a:t>Objective 5 — Rigorous evaluation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1F1F1F"/>
                </a:solidFill>
              </a:rPr>
              <a:t>AXON-Bench: multi-step task benchmark with an ablation matrix and reference baselines.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A8645-FD8E-91EF-C811-8A8680BFA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E7BBD-B303-5BF5-A9FF-E663A9E6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5</a:t>
            </a:fld>
            <a:endParaRPr lang="en-US"/>
          </a:p>
        </p:txBody>
      </p:sp>
      <p:pic>
        <p:nvPicPr>
          <p:cNvPr id="5" name="Superior University Logo">
            <a:extLst>
              <a:ext uri="{FF2B5EF4-FFF2-40B4-BE49-F238E27FC236}">
                <a16:creationId xmlns:a16="http://schemas.microsoft.com/office/drawing/2014/main" id="{5DA058A6-7DE4-7F15-B376-3F58D112B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230188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49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Literature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45920"/>
            <a:ext cx="0" cy="123444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56082"/>
                </a:solidFill>
              </a:rPr>
              <a:t>Three existing approaches — and what each one lacks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B9670-D0E7-D3C6-2729-5DCC492C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97186-5D88-E7C8-A068-197931D7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6</a:t>
            </a:fld>
            <a:endParaRPr lang="en-US"/>
          </a:p>
        </p:txBody>
      </p:sp>
      <p:pic>
        <p:nvPicPr>
          <p:cNvPr id="5" name="Superior University Logo">
            <a:extLst>
              <a:ext uri="{FF2B5EF4-FFF2-40B4-BE49-F238E27FC236}">
                <a16:creationId xmlns:a16="http://schemas.microsoft.com/office/drawing/2014/main" id="{3218363A-2034-584E-D455-9CF4A11AE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230188"/>
            <a:ext cx="731520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27889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6082"/>
                </a:solidFill>
              </a:rPr>
              <a:t>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78892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6082"/>
                </a:solidFill>
              </a:rPr>
              <a:t>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7889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6082"/>
                </a:solidFill>
              </a:rPr>
              <a:t>Limitation for our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15468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</a:rPr>
              <a:t>Vision-language screenshot loops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1546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</a:rPr>
              <a:t>AutoGLM, Roubao [3]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15468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</a:rPr>
              <a:t>Slow and non-deterministic; re-solves every task from scratch; needs a large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867912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</a:rPr>
              <a:t>Hand-written tool runners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867912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</a:rPr>
              <a:t>Mythara, Operit AI [4]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6791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</a:rPr>
              <a:t>Tool library is static and hand-maintained; reasoning quality depends on model size.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581144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</a:rPr>
              <a:t>Trace-to-skill compilation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581144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</a:rPr>
              <a:t>SkillDroid, 2026 [2]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58114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</a:rPr>
              <a:t>Closest work — but calls CLOUD GPT models, so it never faces the malformed-output problem.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349240"/>
            <a:ext cx="10515600" cy="86868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RESEARCH GAP  —  No existing system makes a sub-2B, fully offline model reliable enough to drive a phone.
Cloud-scale models do not have the problem we are solving.</a:t>
            </a:r>
          </a:p>
        </p:txBody>
      </p:sp>
    </p:spTree>
    <p:extLst>
      <p:ext uri="{BB962C8B-B14F-4D97-AF65-F5344CB8AC3E}">
        <p14:creationId xmlns:p14="http://schemas.microsoft.com/office/powerpoint/2010/main" val="3334255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27632"/>
            <a:ext cx="0" cy="105156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56082"/>
                </a:solidFill>
              </a:rPr>
              <a:t>Make the model's freedom smaller: three structural defences, then learn from success.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92709-9CE3-D463-BBF7-4E4308F0B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1B1C7-6EAD-5DAF-4D59-59257EB4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7</a:t>
            </a:fld>
            <a:endParaRPr lang="en-US"/>
          </a:p>
        </p:txBody>
      </p:sp>
      <p:pic>
        <p:nvPicPr>
          <p:cNvPr id="5" name="Superior University Logo">
            <a:extLst>
              <a:ext uri="{FF2B5EF4-FFF2-40B4-BE49-F238E27FC236}">
                <a16:creationId xmlns:a16="http://schemas.microsoft.com/office/drawing/2014/main" id="{9EE56426-8868-7DB3-6C4E-30932AF2C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230188"/>
            <a:ext cx="731520" cy="731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2697480"/>
            <a:ext cx="2542032" cy="123444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 · Grammar-constrained generation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Malformed actions are UNREACHABLE at the sampler — not rejected afterwards.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2697480"/>
            <a:ext cx="2542032" cy="1234440"/>
          </a:xfrm>
          <a:prstGeom prst="roundRect">
            <a:avLst/>
          </a:prstGeom>
          <a:solidFill>
            <a:srgbClr val="1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 · Precondition gate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An action naming an element not on screen is refused before the device is touched.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2697480"/>
            <a:ext cx="2542032" cy="1234440"/>
          </a:xfrm>
          <a:prstGeom prst="roundRect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 · Deterministic verifier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UI-tree diff decides success — the AI never judges its own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96528" y="2697480"/>
            <a:ext cx="2542032" cy="1234440"/>
          </a:xfrm>
          <a:prstGeom prst="roundRect">
            <a:avLst/>
          </a:prstGeom>
          <a:solidFill>
            <a:srgbClr val="B4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 · Skill compilation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A verified trace is frozen into a replayable script — future runs cost 0 AI calls.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160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56082"/>
                </a:solidFill>
              </a:rPr>
              <a:t>Tools &amp; technologies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498848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Language / core:  Kotlin Multiplatform  —  portable reliability core with a swappable OS driver layer</a:t>
            </a:r>
          </a:p>
          <a:p>
            <a:r>
              <a:rPr sz="1300"/>
              <a:t>Inference:  llama.cpp via our own JNI bridge (GGUF, Q4_K_M)  ·  Model: Gemma 3 1B  ·  GBNF constrained decoding</a:t>
            </a:r>
          </a:p>
          <a:p>
            <a:r>
              <a:rPr sz="1300"/>
              <a:t>Device control:  Android AccessibilityService (UI tree + gestures)  ·  UI: Jetpack Compose  ·  Foreground-service gateway</a:t>
            </a:r>
          </a:p>
          <a:p>
            <a:r>
              <a:rPr sz="1300"/>
              <a:t>Evaluation:  AXON-Bench — task success, valid-action rate, AI calls/task, latency, energy per task</a:t>
            </a:r>
          </a:p>
        </p:txBody>
      </p:sp>
    </p:spTree>
    <p:extLst>
      <p:ext uri="{BB962C8B-B14F-4D97-AF65-F5344CB8AC3E}">
        <p14:creationId xmlns:p14="http://schemas.microsoft.com/office/powerpoint/2010/main" val="96708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Proposed Design Block Diagram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01B2A1-91DF-83A8-15B1-72A60550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3DE1D-EE40-B964-49FF-4FEC82AA3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8</a:t>
            </a:fld>
            <a:endParaRPr lang="en-US"/>
          </a:p>
        </p:txBody>
      </p:sp>
      <p:pic>
        <p:nvPicPr>
          <p:cNvPr id="6" name="Superior University Logo">
            <a:extLst>
              <a:ext uri="{FF2B5EF4-FFF2-40B4-BE49-F238E27FC236}">
                <a16:creationId xmlns:a16="http://schemas.microsoft.com/office/drawing/2014/main" id="{11833320-AB2F-E9C7-5B18-4ED1E2795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230188"/>
            <a:ext cx="731520" cy="731520"/>
          </a:xfrm>
          <a:prstGeom prst="rect">
            <a:avLst/>
          </a:prstGeom>
        </p:spPr>
      </p:pic>
      <p:sp>
        <p:nvSpPr>
          <p:cNvPr id="8196" name="TextBox 8195"/>
          <p:cNvSpPr txBox="1"/>
          <p:nvPr/>
        </p:nvSpPr>
        <p:spPr>
          <a:xfrm>
            <a:off x="502920" y="1737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6082"/>
                </a:solidFill>
              </a:rPr>
              <a:t>USER GOAL   "send on my way to Ammi on WhatsApp"</a:t>
            </a:r>
          </a:p>
        </p:txBody>
      </p:sp>
      <p:sp>
        <p:nvSpPr>
          <p:cNvPr id="8197" name="Rounded Rectangle 8196"/>
          <p:cNvSpPr/>
          <p:nvPr/>
        </p:nvSpPr>
        <p:spPr>
          <a:xfrm>
            <a:off x="502920" y="2048256"/>
            <a:ext cx="2148840" cy="658368"/>
          </a:xfrm>
          <a:prstGeom prst="round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Skill Store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Have we done this before?</a:t>
            </a:r>
          </a:p>
        </p:txBody>
      </p:sp>
      <p:sp>
        <p:nvSpPr>
          <p:cNvPr id="8198" name="Right Arrow 8197"/>
          <p:cNvSpPr/>
          <p:nvPr/>
        </p:nvSpPr>
        <p:spPr>
          <a:xfrm>
            <a:off x="2743200" y="2249424"/>
            <a:ext cx="274320" cy="237744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9" name="Rounded Rectangle 8198"/>
          <p:cNvSpPr/>
          <p:nvPr/>
        </p:nvSpPr>
        <p:spPr>
          <a:xfrm>
            <a:off x="3127248" y="2048256"/>
            <a:ext cx="2148840" cy="658368"/>
          </a:xfrm>
          <a:prstGeom prst="roundRect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REPLAY path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0 AI calls · 17 ms</a:t>
            </a:r>
          </a:p>
        </p:txBody>
      </p:sp>
      <p:sp>
        <p:nvSpPr>
          <p:cNvPr id="8200" name="TextBox 8199"/>
          <p:cNvSpPr txBox="1"/>
          <p:nvPr/>
        </p:nvSpPr>
        <p:spPr>
          <a:xfrm>
            <a:off x="5440680" y="213969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02B93"/>
                </a:solidFill>
              </a:rPr>
              <a:t>hit ➜ done</a:t>
            </a:r>
          </a:p>
        </p:txBody>
      </p:sp>
      <p:sp>
        <p:nvSpPr>
          <p:cNvPr id="8201" name="TextBox 8200"/>
          <p:cNvSpPr txBox="1"/>
          <p:nvPr/>
        </p:nvSpPr>
        <p:spPr>
          <a:xfrm>
            <a:off x="502920" y="281635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</a:rPr>
              <a:t>MISS ➜ PLAN path  (the cold, AI-driven route)</a:t>
            </a:r>
          </a:p>
        </p:txBody>
      </p:sp>
      <p:sp>
        <p:nvSpPr>
          <p:cNvPr id="8202" name="Rounded Rectangle 8201"/>
          <p:cNvSpPr/>
          <p:nvPr/>
        </p:nvSpPr>
        <p:spPr>
          <a:xfrm>
            <a:off x="502920" y="3127248"/>
            <a:ext cx="2011680" cy="91440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 · PERCEIVE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Accessibility UI tree ➜ compact screen</a:t>
            </a:r>
          </a:p>
        </p:txBody>
      </p:sp>
      <p:sp>
        <p:nvSpPr>
          <p:cNvPr id="8203" name="Right Arrow 8202"/>
          <p:cNvSpPr/>
          <p:nvPr/>
        </p:nvSpPr>
        <p:spPr>
          <a:xfrm>
            <a:off x="2606040" y="3456432"/>
            <a:ext cx="274320" cy="237744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4" name="Rounded Rectangle 8203"/>
          <p:cNvSpPr/>
          <p:nvPr/>
        </p:nvSpPr>
        <p:spPr>
          <a:xfrm>
            <a:off x="2971800" y="3127248"/>
            <a:ext cx="2011680" cy="91440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 · PLAN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1B model + GBNF grammar</a:t>
            </a:r>
          </a:p>
        </p:txBody>
      </p:sp>
      <p:sp>
        <p:nvSpPr>
          <p:cNvPr id="8205" name="Right Arrow 8204"/>
          <p:cNvSpPr/>
          <p:nvPr/>
        </p:nvSpPr>
        <p:spPr>
          <a:xfrm>
            <a:off x="5074920" y="3456432"/>
            <a:ext cx="274320" cy="237744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6" name="Rounded Rectangle 8205"/>
          <p:cNvSpPr/>
          <p:nvPr/>
        </p:nvSpPr>
        <p:spPr>
          <a:xfrm>
            <a:off x="5440680" y="3127248"/>
            <a:ext cx="2011680" cy="914400"/>
          </a:xfrm>
          <a:prstGeom prst="roundRect">
            <a:avLst/>
          </a:prstGeom>
          <a:solidFill>
            <a:srgbClr val="1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 · GATE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Reject impossible actions</a:t>
            </a:r>
          </a:p>
        </p:txBody>
      </p:sp>
      <p:sp>
        <p:nvSpPr>
          <p:cNvPr id="8207" name="Right Arrow 8206"/>
          <p:cNvSpPr/>
          <p:nvPr/>
        </p:nvSpPr>
        <p:spPr>
          <a:xfrm>
            <a:off x="7543800" y="3456432"/>
            <a:ext cx="274320" cy="237744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8" name="Rounded Rectangle 8207"/>
          <p:cNvSpPr/>
          <p:nvPr/>
        </p:nvSpPr>
        <p:spPr>
          <a:xfrm>
            <a:off x="7909560" y="3127248"/>
            <a:ext cx="1874519" cy="914400"/>
          </a:xfrm>
          <a:prstGeom prst="roundRect">
            <a:avLst/>
          </a:prstGeom>
          <a:solidFill>
            <a:srgbClr val="1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 · ACT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Dispatch gesture</a:t>
            </a:r>
          </a:p>
        </p:txBody>
      </p:sp>
      <p:sp>
        <p:nvSpPr>
          <p:cNvPr id="8209" name="Right Arrow 8208"/>
          <p:cNvSpPr/>
          <p:nvPr/>
        </p:nvSpPr>
        <p:spPr>
          <a:xfrm>
            <a:off x="9875520" y="3456432"/>
            <a:ext cx="274320" cy="237744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0" name="Rounded Rectangle 8209"/>
          <p:cNvSpPr/>
          <p:nvPr/>
        </p:nvSpPr>
        <p:spPr>
          <a:xfrm>
            <a:off x="10241280" y="3127248"/>
            <a:ext cx="1417320" cy="914400"/>
          </a:xfrm>
          <a:prstGeom prst="roundRect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 · VERIFY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Tree diff</a:t>
            </a:r>
          </a:p>
        </p:txBody>
      </p:sp>
      <p:sp>
        <p:nvSpPr>
          <p:cNvPr id="8211" name="TextBox 8210"/>
          <p:cNvSpPr txBox="1"/>
          <p:nvPr/>
        </p:nvSpPr>
        <p:spPr>
          <a:xfrm>
            <a:off x="2971800" y="4133087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6E00"/>
                </a:solidFill>
              </a:rPr>
              <a:t>◀ mismatch ➜ SELF-HEAL: re-plan with the failure injected</a:t>
            </a:r>
          </a:p>
        </p:txBody>
      </p:sp>
      <p:sp>
        <p:nvSpPr>
          <p:cNvPr id="8212" name="Rounded Rectangle 8211"/>
          <p:cNvSpPr/>
          <p:nvPr/>
        </p:nvSpPr>
        <p:spPr>
          <a:xfrm>
            <a:off x="502920" y="4434840"/>
            <a:ext cx="2011680" cy="777240"/>
          </a:xfrm>
          <a:prstGeom prst="round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Trace Memory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Every verified step recorded</a:t>
            </a:r>
          </a:p>
        </p:txBody>
      </p:sp>
      <p:sp>
        <p:nvSpPr>
          <p:cNvPr id="8213" name="Right Arrow 8212"/>
          <p:cNvSpPr/>
          <p:nvPr/>
        </p:nvSpPr>
        <p:spPr>
          <a:xfrm>
            <a:off x="2606040" y="4690872"/>
            <a:ext cx="274320" cy="237744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4" name="Rounded Rectangle 8213"/>
          <p:cNvSpPr/>
          <p:nvPr/>
        </p:nvSpPr>
        <p:spPr>
          <a:xfrm>
            <a:off x="2971800" y="4434840"/>
            <a:ext cx="2011680" cy="777240"/>
          </a:xfrm>
          <a:prstGeom prst="roundRect">
            <a:avLst/>
          </a:prstGeom>
          <a:solidFill>
            <a:srgbClr val="B4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Skill Compiler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Trace ➜ parameterised skill</a:t>
            </a:r>
          </a:p>
        </p:txBody>
      </p:sp>
      <p:sp>
        <p:nvSpPr>
          <p:cNvPr id="8215" name="Right Arrow 8214"/>
          <p:cNvSpPr/>
          <p:nvPr/>
        </p:nvSpPr>
        <p:spPr>
          <a:xfrm>
            <a:off x="5074920" y="4690872"/>
            <a:ext cx="274320" cy="237744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6" name="Rounded Rectangle 8215"/>
          <p:cNvSpPr/>
          <p:nvPr/>
        </p:nvSpPr>
        <p:spPr>
          <a:xfrm>
            <a:off x="5440680" y="4434840"/>
            <a:ext cx="2011680" cy="777240"/>
          </a:xfrm>
          <a:prstGeom prst="roundRect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New Skill Saved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Next time: free</a:t>
            </a:r>
          </a:p>
        </p:txBody>
      </p:sp>
      <p:sp>
        <p:nvSpPr>
          <p:cNvPr id="8217" name="Up Arrow 8216"/>
          <p:cNvSpPr/>
          <p:nvPr/>
        </p:nvSpPr>
        <p:spPr>
          <a:xfrm>
            <a:off x="7543800" y="4690872"/>
            <a:ext cx="237744" cy="777240"/>
          </a:xfrm>
          <a:prstGeom prst="up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8" name="TextBox 8217"/>
          <p:cNvSpPr txBox="1"/>
          <p:nvPr/>
        </p:nvSpPr>
        <p:spPr>
          <a:xfrm>
            <a:off x="7863840" y="4526279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02B93"/>
                </a:solidFill>
              </a:rPr>
              <a:t>the learning loop closes —
the system gets faster with use</a:t>
            </a:r>
          </a:p>
        </p:txBody>
      </p:sp>
      <p:sp>
        <p:nvSpPr>
          <p:cNvPr id="8219" name="Rounded Rectangle 8218"/>
          <p:cNvSpPr/>
          <p:nvPr/>
        </p:nvSpPr>
        <p:spPr>
          <a:xfrm>
            <a:off x="502920" y="5440680"/>
            <a:ext cx="11155680" cy="566928"/>
          </a:xfrm>
          <a:prstGeom prst="roundRect">
            <a:avLst/>
          </a:prstGeom>
          <a:solidFill>
            <a:srgbClr val="E9EFF4"/>
          </a:solidFill>
          <a:ln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6082"/>
                </a:solidFill>
              </a:rPr>
              <a:t>SAFETY LAYER (runs across every stage):  no INTERNET permission  ·  password / OTP fields never read  ·  visible foreground service  ·  irreversible actions need your approval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6A6FC-D12F-0211-296B-A4402FF21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Project Timeline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85D39D8F-BBF8-51CC-64DB-AB03F24E01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7076347"/>
              </p:ext>
            </p:extLst>
          </p:nvPr>
        </p:nvGraphicFramePr>
        <p:xfrm>
          <a:off x="838200" y="2395728"/>
          <a:ext cx="10653072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942">
                  <a:extLst>
                    <a:ext uri="{9D8B030D-6E8A-4147-A177-3AD203B41FA5}">
                      <a16:colId xmlns:a16="http://schemas.microsoft.com/office/drawing/2014/main" val="1404387144"/>
                    </a:ext>
                  </a:extLst>
                </a:gridCol>
                <a:gridCol w="4594726">
                  <a:extLst>
                    <a:ext uri="{9D8B030D-6E8A-4147-A177-3AD203B41FA5}">
                      <a16:colId xmlns:a16="http://schemas.microsoft.com/office/drawing/2014/main" val="2284358643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3731193998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2696453193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4127567502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1658967277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337343360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799796670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1103929198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232952298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30993641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2078943888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4102007062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179584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Months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16246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Tasks /Activity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Tasks /Activity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605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Literature review &amp; problem definition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712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System design — contracts, schemas, action grammar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680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On-device inference (llama.cpp JNI) + constrained decoding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613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Perception, executor &amp; precondition gate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656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Planner in the loop + deterministic verifier / self-healing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631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Skill compiler &amp; replay — the learning loop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098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AXON-Bench: benchmark, ablation matrix, results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4E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4E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4E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47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Optimisation, user testing, thesis &amp; defence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4EF"/>
                    </a:solidFill>
                  </a:tcPr>
                </a:tc>
                <a:tc gridSpan="3"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4E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4E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20490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8C4A-584C-EC4E-E0E2-9C5905E0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8B2D0-3E8D-11A5-4ACD-41944CA95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4B5067-D1BA-6A4B-B176-6CCA72428356}"/>
              </a:ext>
            </a:extLst>
          </p:cNvPr>
          <p:cNvSpPr txBox="1"/>
          <p:nvPr/>
        </p:nvSpPr>
        <p:spPr>
          <a:xfrm>
            <a:off x="1027522" y="1737360"/>
            <a:ext cx="9895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200" b="1">
                <a:solidFill>
                  <a:srgbClr val="156082"/>
                </a:solidFill>
              </a:rPr>
              <a:t>Two-semester plan. Phases 0–5 are already complete (shaded darker) — the core contributions are locked; the remaining work is evaluation and write-up.</a:t>
            </a:r>
          </a:p>
        </p:txBody>
      </p:sp>
      <p:pic>
        <p:nvPicPr>
          <p:cNvPr id="8" name="Superior University Logo">
            <a:extLst>
              <a:ext uri="{FF2B5EF4-FFF2-40B4-BE49-F238E27FC236}">
                <a16:creationId xmlns:a16="http://schemas.microsoft.com/office/drawing/2014/main" id="{DEB9E963-CF87-2FE4-F0F3-286FA37B8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230188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59253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</a:rPr>
              <a:t>■ shaded blue = completed   ■ shaded purple = remaining      Status at proposal stage: Phases 0–5 of 8 complete.</a:t>
            </a:r>
          </a:p>
        </p:txBody>
      </p:sp>
    </p:spTree>
    <p:extLst>
      <p:ext uri="{BB962C8B-B14F-4D97-AF65-F5344CB8AC3E}">
        <p14:creationId xmlns:p14="http://schemas.microsoft.com/office/powerpoint/2010/main" val="3385104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837F8-C57B-414F-CACF-BBCE1A8ED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8FECE-01BD-3BE5-AF76-8ABC9A94A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250" b="0">
                <a:solidFill>
                  <a:srgbClr val="1F1F1F"/>
                </a:solidFill>
              </a:rPr>
              <a:t>[1] G. Gerganov et al., "llama.cpp: LLM inference in C/C++," GitHub repository, 2026. [Online]. Available: https://github.com/ggml-org/llama.cpp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F1F1F"/>
                </a:solidFill>
              </a:rPr>
              <a:t>[2] Y. Chen et al., "SkillDroid: Compile Once, Reuse Forever — Skill Compilation for Mobile GUI Agents," arXiv:2604.14872, Apr. 2026.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F1F1F"/>
                </a:solidFill>
              </a:rPr>
              <a:t>[3] Zhipu AI, "AutoGLM: Autonomous Foundation Agents for GUIs," arXiv:2411.00820, 2024.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F1F1F"/>
                </a:solidFill>
              </a:rPr>
              <a:t>[4] H. Wen et al., "AutoDroid: LLM-powered Task Automation in Android," in Proc. ACM MobiCom, 2024.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F1F1F"/>
                </a:solidFill>
              </a:rPr>
              <a:t>[5] Google DeepMind, "Gemma 3: Lightweight Open Models for On-Device AI," Technical Report, 2025.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F1F1F"/>
                </a:solidFill>
              </a:rPr>
              <a:t>[6] Google, "AccessibilityService — Android Developers," 2026. [Online]. Available: https://developer.android.com/reference/android/accessibilityservice/AccessibilityService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F1F1F"/>
                </a:solidFill>
              </a:rPr>
              <a:t>[7] B. Dong et al., "XGrammar: Flexible and Efficient Structured Generation for LLMs," arXiv:2411.15100, 2024.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F1F1F"/>
                </a:solidFill>
              </a:rPr>
              <a:t>[8] C. Rawles et al., "AndroidWorld: A Dynamic Benchmarking Environment for Autonomous Agents," in Proc. ICLR, 2025.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5B0417-7CC1-4A08-4F7B-E7EBE4D02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BCD45-7522-57AA-5328-214952200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10</a:t>
            </a:fld>
            <a:endParaRPr lang="en-US"/>
          </a:p>
        </p:txBody>
      </p:sp>
      <p:pic>
        <p:nvPicPr>
          <p:cNvPr id="7" name="Superior University Logo">
            <a:extLst>
              <a:ext uri="{FF2B5EF4-FFF2-40B4-BE49-F238E27FC236}">
                <a16:creationId xmlns:a16="http://schemas.microsoft.com/office/drawing/2014/main" id="{DBF5805A-B1A5-8628-03DF-CB592B481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230188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98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may add more slides depending on your project.</a:t>
            </a:r>
          </a:p>
          <a:p>
            <a:r>
              <a:rPr lang="en-US" dirty="0"/>
              <a:t>Only main headings of slides are part of format.  You will change sub-headings in each slide </a:t>
            </a:r>
          </a:p>
          <a:p>
            <a:r>
              <a:rPr lang="en-US" dirty="0"/>
              <a:t>Limit number of words on slides. Use key phrases only. </a:t>
            </a:r>
          </a:p>
          <a:p>
            <a:r>
              <a:rPr lang="en-US" dirty="0"/>
              <a:t>Use good quality images (text in images should be readable)</a:t>
            </a:r>
          </a:p>
          <a:p>
            <a:r>
              <a:rPr lang="en-US" dirty="0"/>
              <a:t>Make sure to Label your graphs, and axis.</a:t>
            </a:r>
          </a:p>
          <a:p>
            <a:r>
              <a:rPr lang="en-US" dirty="0"/>
              <a:t>Time your presentation. Practice first.  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GOOD LUCK!!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E4677-5197-A20B-59EB-777C8D99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91FB2-0B65-09D3-1315-48F1C805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11</a:t>
            </a:fld>
            <a:endParaRPr lang="en-US"/>
          </a:p>
        </p:txBody>
      </p:sp>
      <p:pic>
        <p:nvPicPr>
          <p:cNvPr id="5" name="Superior University Logo">
            <a:extLst>
              <a:ext uri="{FF2B5EF4-FFF2-40B4-BE49-F238E27FC236}">
                <a16:creationId xmlns:a16="http://schemas.microsoft.com/office/drawing/2014/main" id="{36EE0F3D-6531-1962-D8D2-E9D3A498B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230188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777192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Progress &amp; Early Results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B9670-D0E7-D3C6-2729-5DCC492C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97186-5D88-E7C8-A068-197931D7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6</a:t>
            </a:fld>
            <a:endParaRPr lang="en-US"/>
          </a:p>
        </p:txBody>
      </p:sp>
      <p:pic>
        <p:nvPicPr>
          <p:cNvPr id="5" name="Superior University Logo">
            <a:extLst>
              <a:ext uri="{FF2B5EF4-FFF2-40B4-BE49-F238E27FC236}">
                <a16:creationId xmlns:a16="http://schemas.microsoft.com/office/drawing/2014/main" id="{3218363A-2034-584E-D455-9CF4A11AE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230188"/>
            <a:ext cx="731520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17373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56082"/>
                </a:solidFill>
              </a:rPr>
              <a:t>Already implemented and measured on the target device — not a plan, a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121408"/>
            <a:ext cx="2542032" cy="1417320"/>
          </a:xfrm>
          <a:prstGeom prst="roundRect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8,407×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faster on replay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142,917 ms cold  ➜  17 ms replayed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2121408"/>
            <a:ext cx="2542032" cy="1417320"/>
          </a:xfrm>
          <a:prstGeom prst="roundRect">
            <a:avLst/>
          </a:prstGeom>
          <a:solidFill>
            <a:srgbClr val="1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0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AI calls on replay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target was "fewer"; achieved exactly zero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121408"/>
            <a:ext cx="2542032" cy="141732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100%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valid actions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vs 46.2% without our grammar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96528" y="2121408"/>
            <a:ext cx="2542032" cy="1417320"/>
          </a:xfrm>
          <a:prstGeom prst="roundRect">
            <a:avLst/>
          </a:prstGeom>
          <a:solidFill>
            <a:srgbClr val="B4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83 J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per planning step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≈ 831 steps per full battery charge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566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082"/>
                </a:solidFill>
              </a:rPr>
              <a:t>Working today on the TECNO Camon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858768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/>
              <a:t>✓  On-device inference — Gemma 3 1B, fully offline, no network permission</a:t>
            </a:r>
          </a:p>
          <a:p>
            <a:pPr>
              <a:spcAft>
                <a:spcPts val="300"/>
              </a:spcAft>
            </a:pPr>
            <a:r>
              <a:rPr sz="1150"/>
              <a:t>✓  Grammar-constrained action generation (GBNF) — 100% valid</a:t>
            </a:r>
          </a:p>
          <a:p>
            <a:pPr>
              <a:spcAft>
                <a:spcPts val="300"/>
              </a:spcAft>
            </a:pPr>
            <a:r>
              <a:rPr sz="1150"/>
              <a:t>✓  Screen perception via AccessibilityService, with credential fields refused</a:t>
            </a:r>
          </a:p>
          <a:p>
            <a:pPr>
              <a:spcAft>
                <a:spcPts val="300"/>
              </a:spcAft>
            </a:pPr>
            <a:r>
              <a:rPr sz="1150"/>
              <a:t>✓  Precondition gate, deterministic verifier, self-healing loop</a:t>
            </a:r>
          </a:p>
          <a:p>
            <a:pPr>
              <a:spcAft>
                <a:spcPts val="300"/>
              </a:spcAft>
            </a:pPr>
            <a:r>
              <a:rPr sz="1150"/>
              <a:t>✓  Skill compiler + replay — the learning loop closes end to end</a:t>
            </a:r>
          </a:p>
          <a:p>
            <a:pPr>
              <a:spcAft>
                <a:spcPts val="300"/>
              </a:spcAft>
            </a:pPr>
            <a:r>
              <a:rPr sz="1150"/>
              <a:t>✓  Foreground-service gateway — operates other apps, stoppable by the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082"/>
                </a:solidFill>
              </a:rPr>
              <a:t>Engineering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858768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A02B93"/>
                </a:solidFill>
              </a:rPr>
              <a:t>129   </a:t>
            </a:r>
            <a:r>
              <a:rPr sz="1150"/>
              <a:t>automated tests passing — 0 failures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A02B93"/>
                </a:solidFill>
              </a:rPr>
              <a:t>28   </a:t>
            </a:r>
            <a:r>
              <a:rPr sz="1150"/>
              <a:t>documented design decisions, each with evidence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A02B93"/>
                </a:solidFill>
              </a:rPr>
              <a:t>18   </a:t>
            </a:r>
            <a:r>
              <a:rPr sz="1150"/>
              <a:t>logged experiments with full provenance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A02B93"/>
                </a:solidFill>
              </a:rPr>
              <a:t>1   </a:t>
            </a:r>
            <a:r>
              <a:rPr sz="1150"/>
              <a:t>experiment we VOIDED ourselves after finding our own baseline was unfair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7790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7A5E"/>
                </a:solidFill>
              </a:rPr>
              <a:t>Half our evaluation runs with no phone attached — so results are reproducible by anyone.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</TotalTime>
  <Words>560</Words>
  <Application>Microsoft Office PowerPoint</Application>
  <PresentationFormat>Widescreen</PresentationFormat>
  <Paragraphs>131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Courier New</vt:lpstr>
      <vt:lpstr>Georgia</vt:lpstr>
      <vt:lpstr>Segoe UI</vt:lpstr>
      <vt:lpstr>Times New Roman</vt:lpstr>
      <vt:lpstr>Office Theme</vt:lpstr>
      <vt:lpstr>PowerPoint Presentation</vt:lpstr>
      <vt:lpstr>Introduction</vt:lpstr>
      <vt:lpstr>Background</vt:lpstr>
      <vt:lpstr>Problem Statement</vt:lpstr>
      <vt:lpstr>Aims &amp; Objectives</vt:lpstr>
      <vt:lpstr>Literature Study</vt:lpstr>
      <vt:lpstr>Methodology </vt:lpstr>
      <vt:lpstr>Proposed Design Block Diagram</vt:lpstr>
      <vt:lpstr>Project Timeline</vt:lpstr>
      <vt:lpstr>References. </vt:lpstr>
      <vt:lpstr>TIPS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Engr. Hamza Toor</dc:creator>
  <cp:lastModifiedBy>Dr. Muhammad Abdul Rehman</cp:lastModifiedBy>
  <cp:revision>20</cp:revision>
  <dcterms:created xsi:type="dcterms:W3CDTF">2022-08-08T19:13:11Z</dcterms:created>
  <dcterms:modified xsi:type="dcterms:W3CDTF">2026-08-11T06:05:43Z</dcterms:modified>
</cp:coreProperties>
</file>
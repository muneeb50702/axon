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863" r:id="rId1"/>
  </p:sldMasterIdLst>
  <p:notesMasterIdLst>
    <p:notesMasterId r:id="rId13"/>
  </p:notesMasterIdLst>
  <p:handoutMasterIdLst>
    <p:handoutMasterId r:id="rId14"/>
  </p:handoutMasterIdLst>
  <p:sldIdLst>
    <p:sldId id="261" r:id="rId2"/>
    <p:sldId id="278" r:id="rId3"/>
    <p:sldId id="282" r:id="rId4"/>
    <p:sldId id="274" r:id="rId5"/>
    <p:sldId id="269" r:id="rId6"/>
    <p:sldId id="271" r:id="rId7"/>
    <p:sldId id="273" r:id="rId8"/>
    <p:sldId id="265" r:id="rId9"/>
    <p:sldId id="286" r:id="rId19"/>
    <p:sldId id="284" r:id="rId10"/>
    <p:sldId id="285" r:id="rId11"/>
  </p:sldIdLst>
  <p:sldSz cx="12192000" cy="6858000"/>
  <p:notesSz cx="6858000" cy="9144000"/>
  <p:defaultTextStyle>
    <a:defPPr>
      <a:defRPr lang="en-P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175" autoAdjust="0"/>
    <p:restoredTop sz="94598" autoAdjust="0"/>
  </p:normalViewPr>
  <p:slideViewPr>
    <p:cSldViewPr snapToGrid="0">
      <p:cViewPr varScale="1">
        <p:scale>
          <a:sx n="60" d="100"/>
          <a:sy n="60" d="100"/>
        </p:scale>
        <p:origin x="966" y="7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5" d="100"/>
          <a:sy n="65" d="100"/>
        </p:scale>
        <p:origin x="3154" y="48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handoutMaster" Target="handoutMasters/handout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/>
          <a:lstStyle/>
          <a:p>
            <a:pPr>
              <a:defRPr sz="2000" b="1" strike="noStrike" spc="15">
                <a:solidFill>
                  <a:srgbClr val="808080"/>
                </a:solidFill>
                <a:uFill>
                  <a:solidFill>
                    <a:srgbClr val="FFFFFF"/>
                  </a:solidFill>
                </a:uFill>
                <a:latin typeface="Times New Roman"/>
                <a:ea typeface="DejaVu Sans"/>
              </a:defRPr>
            </a:pPr>
            <a:r>
              <a:rPr lang="en-US" sz="2000" b="1" strike="noStrike" spc="15">
                <a:solidFill>
                  <a:srgbClr val="808080"/>
                </a:solidFill>
                <a:uFill>
                  <a:solidFill>
                    <a:srgbClr val="FFFFFF"/>
                  </a:solidFill>
                </a:uFill>
                <a:latin typeface="Times New Roman"/>
                <a:ea typeface="DejaVu Sans"/>
              </a:rPr>
              <a:t>Yearly number of Photos Taken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15673989578932546"/>
          <c:y val="0.17365193846452726"/>
          <c:w val="0.78222820729474718"/>
          <c:h val="0.60153292293495553"/>
        </c:manualLayout>
      </c:layout>
      <c:lineChart>
        <c:grouping val="standard"/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No. of Photos</c:v>
                </c:pt>
              </c:strCache>
            </c:strRef>
          </c:tx>
          <c:spPr>
            <a:ln w="22320">
              <a:solidFill>
                <a:srgbClr val="5B9BD5"/>
              </a:solidFill>
              <a:round/>
            </a:ln>
          </c:spPr>
          <c:marker>
            <c:symbol val="none"/>
          </c:marker>
          <c:dLbls>
            <c:dLbl>
              <c:idx val="0"/>
              <c:layout>
                <c:manualLayout>
                  <c:x val="-2.3742078580481621E-2"/>
                  <c:y val="-3.8550735195910589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4962-4768-80B0-6F14B1F66E8E}"/>
                </c:ext>
              </c:extLst>
            </c:dLbl>
            <c:dLbl>
              <c:idx val="1"/>
              <c:layout>
                <c:manualLayout>
                  <c:x val="-7.4311364596535701E-2"/>
                  <c:y val="-1.9275367597955295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4962-4768-80B0-6F14B1F66E8E}"/>
                </c:ext>
              </c:extLst>
            </c:dLbl>
            <c:dLbl>
              <c:idx val="2"/>
              <c:layout>
                <c:manualLayout>
                  <c:x val="-4.8423109421208282E-2"/>
                  <c:y val="-2.6985514637137376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4962-4768-80B0-6F14B1F66E8E}"/>
                </c:ext>
              </c:extLst>
            </c:dLbl>
            <c:dLbl>
              <c:idx val="3"/>
              <c:layout>
                <c:manualLayout>
                  <c:x val="-5.0658710040839321E-2"/>
                  <c:y val="-1.9275367597955295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4962-4768-80B0-6F14B1F66E8E}"/>
                </c:ext>
              </c:extLst>
            </c:dLbl>
            <c:dLbl>
              <c:idx val="4"/>
              <c:layout>
                <c:manualLayout>
                  <c:x val="-5.6202999577524296E-2"/>
                  <c:y val="-3.8550735195910589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4962-4768-80B0-6F14B1F66E8E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200"/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5"/>
                <c:pt idx="0">
                  <c:v>2013</c:v>
                </c:pt>
                <c:pt idx="1">
                  <c:v>2014</c:v>
                </c:pt>
                <c:pt idx="2">
                  <c:v>2015</c:v>
                </c:pt>
                <c:pt idx="3">
                  <c:v>2016</c:v>
                </c:pt>
                <c:pt idx="4">
                  <c:v>2017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5"/>
                <c:pt idx="0">
                  <c:v>660</c:v>
                </c:pt>
                <c:pt idx="1">
                  <c:v>810</c:v>
                </c:pt>
                <c:pt idx="2">
                  <c:v>1000</c:v>
                </c:pt>
                <c:pt idx="3">
                  <c:v>1100</c:v>
                </c:pt>
                <c:pt idx="4">
                  <c:v>1200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962-4768-80B0-6F14B1F66E8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hiLowLines>
          <c:spPr>
            <a:ln>
              <a:noFill/>
            </a:ln>
          </c:spPr>
        </c:hiLowLines>
        <c:smooth val="0"/>
        <c:axId val="125861888"/>
        <c:axId val="125863808"/>
      </c:lineChart>
      <c:catAx>
        <c:axId val="125861888"/>
        <c:scaling>
          <c:orientation val="minMax"/>
        </c:scaling>
        <c:delete val="0"/>
        <c:axPos val="b"/>
        <c:title>
          <c:tx>
            <c:rich>
              <a:bodyPr rot="0"/>
              <a:lstStyle/>
              <a:p>
                <a:pPr>
                  <a:defRPr sz="1600" b="0" strike="noStrike" spc="-1">
                    <a:solidFill>
                      <a:srgbClr val="595959"/>
                    </a:solidFill>
                    <a:uFill>
                      <a:solidFill>
                        <a:srgbClr val="FFFFFF"/>
                      </a:solidFill>
                    </a:uFill>
                    <a:latin typeface="Times New Roman"/>
                    <a:ea typeface="DejaVu Sans"/>
                  </a:defRPr>
                </a:pPr>
                <a:r>
                  <a:rPr lang="en-US" sz="1600" b="0" strike="noStrike" spc="-1">
                    <a:solidFill>
                      <a:srgbClr val="595959"/>
                    </a:solidFill>
                    <a:uFill>
                      <a:solidFill>
                        <a:srgbClr val="FFFFFF"/>
                      </a:solidFill>
                    </a:uFill>
                    <a:latin typeface="Times New Roman"/>
                    <a:ea typeface="DejaVu Sans"/>
                  </a:rPr>
                  <a:t>years</a:t>
                </a:r>
              </a:p>
            </c:rich>
          </c:tx>
          <c:layout>
            <c:manualLayout>
              <c:xMode val="edge"/>
              <c:yMode val="edge"/>
              <c:x val="0.49840787034836698"/>
              <c:y val="0.94591346153846201"/>
            </c:manualLayout>
          </c:layout>
          <c:overlay val="0"/>
        </c:title>
        <c:numFmt formatCode="General" sourceLinked="1"/>
        <c:majorTickMark val="none"/>
        <c:minorTickMark val="none"/>
        <c:tickLblPos val="nextTo"/>
        <c:spPr>
          <a:ln w="9360">
            <a:solidFill>
              <a:srgbClr val="D9D9D9"/>
            </a:solidFill>
            <a:round/>
          </a:ln>
        </c:spPr>
        <c:txPr>
          <a:bodyPr/>
          <a:lstStyle/>
          <a:p>
            <a:pPr>
              <a:defRPr sz="1400" b="0" strike="noStrike" spc="15">
                <a:solidFill>
                  <a:srgbClr val="595959"/>
                </a:solidFill>
                <a:uFill>
                  <a:solidFill>
                    <a:srgbClr val="FFFFFF"/>
                  </a:solidFill>
                </a:uFill>
                <a:latin typeface="Times New Roman"/>
                <a:ea typeface="DejaVu Sans"/>
              </a:defRPr>
            </a:pPr>
            <a:endParaRPr lang="en-US"/>
          </a:p>
        </c:txPr>
        <c:crossAx val="125863808"/>
        <c:crosses val="autoZero"/>
        <c:auto val="1"/>
        <c:lblAlgn val="ctr"/>
        <c:lblOffset val="100"/>
        <c:noMultiLvlLbl val="1"/>
      </c:catAx>
      <c:valAx>
        <c:axId val="125863808"/>
        <c:scaling>
          <c:orientation val="minMax"/>
        </c:scaling>
        <c:delete val="0"/>
        <c:axPos val="l"/>
        <c:title>
          <c:tx>
            <c:rich>
              <a:bodyPr rot="-5400000"/>
              <a:lstStyle/>
              <a:p>
                <a:pPr>
                  <a:defRPr sz="1400" b="0" strike="noStrike" spc="-1">
                    <a:solidFill>
                      <a:srgbClr val="595959"/>
                    </a:solidFill>
                    <a:uFill>
                      <a:solidFill>
                        <a:srgbClr val="FFFFFF"/>
                      </a:solidFill>
                    </a:uFill>
                    <a:latin typeface="Times New Roman"/>
                    <a:ea typeface="DejaVu Sans"/>
                  </a:defRPr>
                </a:pPr>
                <a:r>
                  <a:rPr lang="en-US" sz="1400" b="0" strike="noStrike" spc="-1">
                    <a:solidFill>
                      <a:srgbClr val="595959"/>
                    </a:solidFill>
                    <a:uFill>
                      <a:solidFill>
                        <a:srgbClr val="FFFFFF"/>
                      </a:solidFill>
                    </a:uFill>
                    <a:latin typeface="Times New Roman"/>
                    <a:ea typeface="DejaVu Sans"/>
                  </a:rPr>
                  <a:t>Billion</a:t>
                </a:r>
              </a:p>
            </c:rich>
          </c:tx>
          <c:layout>
            <c:manualLayout>
              <c:xMode val="edge"/>
              <c:yMode val="edge"/>
              <c:x val="6.8913074473646698E-3"/>
              <c:y val="0.39259178321678301"/>
            </c:manualLayout>
          </c:layout>
          <c:overlay val="0"/>
        </c:title>
        <c:numFmt formatCode="General" sourceLinked="0"/>
        <c:majorTickMark val="none"/>
        <c:minorTickMark val="none"/>
        <c:tickLblPos val="nextTo"/>
        <c:spPr>
          <a:ln w="6480">
            <a:noFill/>
          </a:ln>
        </c:spPr>
        <c:txPr>
          <a:bodyPr/>
          <a:lstStyle/>
          <a:p>
            <a:pPr>
              <a:defRPr sz="1400" b="0" strike="noStrike" spc="15">
                <a:solidFill>
                  <a:srgbClr val="595959"/>
                </a:solidFill>
                <a:uFill>
                  <a:solidFill>
                    <a:srgbClr val="FFFFFF"/>
                  </a:solidFill>
                </a:uFill>
                <a:latin typeface="Times New Roman"/>
                <a:ea typeface="DejaVu Sans"/>
              </a:defRPr>
            </a:pPr>
            <a:endParaRPr lang="en-US"/>
          </a:p>
        </c:txPr>
        <c:crossAx val="125861888"/>
        <c:crosses val="autoZero"/>
        <c:crossBetween val="midCat"/>
      </c:valAx>
      <c:spPr>
        <a:gradFill>
          <a:gsLst>
            <a:gs pos="0">
              <a:srgbClr val="FFFFFF"/>
            </a:gs>
            <a:gs pos="100000">
              <a:srgbClr val="F2F2F2"/>
            </a:gs>
          </a:gsLst>
          <a:lin ang="5400000"/>
        </a:gradFill>
        <a:ln>
          <a:noFill/>
        </a:ln>
      </c:spPr>
    </c:plotArea>
    <c:plotVisOnly val="1"/>
    <c:dispBlanksAs val="gap"/>
    <c:showDLblsOverMax val="1"/>
  </c:chart>
  <c:spPr>
    <a:solidFill>
      <a:srgbClr val="FFFFFF"/>
    </a:solidFill>
    <a:ln>
      <a:noFill/>
    </a:ln>
  </c:spPr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76D64E3-5D88-D290-75BE-2D910574C39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73C453B-0FE8-25F8-D0CB-A84DB026DC7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10B063-250C-429E-A8BF-7319391C6F55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EB1DE4-8163-85D6-175E-B7C4C534B3B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811C6D-0570-1239-CC25-AAC00CD6CB0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5C975E-0997-4697-96EB-C63A933B50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3725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D04B44-9D7C-43FA-A7E8-5AF8C75640D9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A6EE081-2D8F-4867-9918-8A1AB114F6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7180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 time of Presentation</a:t>
            </a:r>
            <a:r>
              <a:rPr lang="en-US" baseline="0" dirty="0"/>
              <a:t> should not exceed  6 mints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46537E7-FA4B-4159-86BE-DD5AA3DBDA34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822681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CE0CC3-79EA-792F-5687-D0ADE652AF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3B555A-D0FC-E7E3-139C-904C69AC49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338B41-ECF7-015F-E011-C8128DDF4D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B9DD4A-C94C-4E8F-A191-88A43E9F0B3F}" type="datetime1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EDEC18-CC85-0D0A-425C-47162090EF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Science, FCS&amp;IT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4207B1-5A2F-4E10-85DD-E768F12747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EC05BC-9E72-426D-91BE-7A46001AA6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6364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469F6A-7BC0-9F53-AAF8-43130D14F5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F2B204-CECE-0510-75A5-0335AC5304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7B331B-523C-3249-79A5-B28E0FF02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0AD533-88B9-4E0F-AE72-957DBC5E04DD}" type="datetime1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3D1EC5-20A1-712F-5D7C-5D9AB02F3B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Science, FCS&amp;IT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0382FA-C205-BA1F-B7F5-A1926F674D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EC05BC-9E72-426D-91BE-7A46001AA6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98284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4F5EAC-1F88-811F-0731-13DA2669BD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592552-52A2-B2FC-D94F-B45A56BF97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1B9F44-303D-45D7-12DC-03A4571883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0AD533-88B9-4E0F-AE72-957DBC5E04DD}" type="datetime1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AC649B-D0A5-708C-157B-F7C992C890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Science, FCS&amp;IT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5ADE2B-71BA-DF6C-35D6-DFCA35F8C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EC05BC-9E72-426D-91BE-7A46001AA6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1000058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3F7902-F071-5900-E102-3E14F25DB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674C2D-919A-B2F6-66D2-B16B1C779A7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CB0FD5-103F-FC03-E635-2F73854D7B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5251C4-5B75-4B80-33DC-581FF18238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0AD533-88B9-4E0F-AE72-957DBC5E04DD}" type="datetime1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F3B752-AF8F-C2DF-68D3-6579C075F6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Science, FCS&amp;IT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247D0A-4DFB-6044-8120-8DD4925244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EC05BC-9E72-426D-91BE-7A46001AA6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4839460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5650A9-E4DB-FCBC-9FF2-F1B7AE8B6D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254CA8-9B9C-D8F8-A477-AD9EE371BA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3EBBBD-FE38-D459-6778-F241A61D49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A9AB5B3-F84C-7BEC-32A9-8E3A56D5D33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D0BEA93-8F82-8B89-A4D2-058E9802260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2CE77D5-7D07-01C3-166E-2F217C2BCA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0AD533-88B9-4E0F-AE72-957DBC5E04DD}" type="datetime1">
              <a:rPr lang="en-US" smtClean="0"/>
              <a:t>8/11/2026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7D16741-5AF1-64BB-1FAC-99F12E1D68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Science, FCS&amp;IT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2CF9CAD-0CAA-2D1C-9C70-D870CEDD6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EC05BC-9E72-426D-91BE-7A46001AA6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326488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1919E9-9D5A-0AE1-C6BF-566A0DBCD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05946B5-438D-560C-EE83-2844F2806D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06B07E-CF47-4C3A-80FA-C2777D1ECED6}" type="datetime1">
              <a:rPr lang="en-US" smtClean="0"/>
              <a:t>8/11/2026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1F2362-4642-FAC4-E835-BFADE3BDB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Science, FCS&amp;IT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6FF9FF-6295-ECBF-5A29-4155297354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EC05BC-9E72-426D-91BE-7A46001AA6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25566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ACFB275-575F-A0D4-1F62-2280CF3ED2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0AD533-88B9-4E0F-AE72-957DBC5E04DD}" type="datetime1">
              <a:rPr lang="en-US" smtClean="0"/>
              <a:t>8/11/2026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86059EA-730D-4B1A-8883-6A9F9C8746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Science, FCS&amp;IT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D63362-8086-52E3-81DB-32ED03C282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EC05BC-9E72-426D-91BE-7A46001AA6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7078307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536EE1-31DB-B07F-0724-36EDB2C8FD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A9E8D-CACF-88C0-E316-BB99BAB9B4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8EC894-CC10-1811-3F52-00C0606E66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33CB9E-A6C2-1539-7561-24ED5421DF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0AD533-88B9-4E0F-AE72-957DBC5E04DD}" type="datetime1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605CF2E-EB68-E4F3-B8CE-8CDD203A47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Science, FCS&amp;IT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C98324-57B0-A466-5658-DF289520F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EC05BC-9E72-426D-91BE-7A46001AA6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2331120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A38765-BF0A-8F31-F783-1B41B08528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F3C19DD-15F7-547A-5997-A8F25C49B93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BDC315-BC9C-C859-D317-27F762211F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D9EA33-41D0-B0F9-DCAB-A2FE63B8EC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0AD533-88B9-4E0F-AE72-957DBC5E04DD}" type="datetime1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70E63F-684E-91BA-8B4A-89BEE3E77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Science, FCS&amp;IT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819766-9931-3085-EC55-A4E02C9521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EC05BC-9E72-426D-91BE-7A46001AA6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167390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D73537-FEF6-D3CB-9C82-94906D7D6D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6C64B7-25A0-3581-9B8D-8063CFFE17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D20A62-7877-02BE-DCB2-B848AB8936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0AD533-88B9-4E0F-AE72-957DBC5E04DD}" type="datetime1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6A7147-E8F8-E0D4-5E62-02D0150A08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Science, FCS&amp;IT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FC62EF-9ADE-BA92-D41F-924FB909A1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EC05BC-9E72-426D-91BE-7A46001AA6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2562998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5C08710-3102-CCA4-9D33-8BDDD9CBD7D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B0662D6-D169-EC27-594B-DBB29F748D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BCAE2A-B506-3C13-16AA-859B1E8C8F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0AD533-88B9-4E0F-AE72-957DBC5E04DD}" type="datetime1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0A43F4-DDA1-F7EC-F00E-B4DD768984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Science, FCS&amp;IT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B7DDC6-4C1E-2646-16DB-5D3D79E1C3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EC05BC-9E72-426D-91BE-7A46001AA6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185876"/>
      </p:ext>
    </p:extLst>
  </p:cSld>
  <p:clrMapOvr>
    <a:masterClrMapping/>
  </p:clrMapOvr>
  <p:hf hdr="0" dt="0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D6C50AE-0410-5BF9-C100-F677669A5C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0FF094-342C-7011-5257-D0F8DE924A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883B97-3439-3FB9-BEFC-9169B198320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0AD533-88B9-4E0F-AE72-957DBC5E04DD}" type="datetime1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0FAD95-7697-E72D-FF50-43568CF33AD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Department of Computer Science, FCS&amp;IT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20DB97-EEDC-42F5-A3CC-F50013E1FC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7EC05BC-9E72-426D-91BE-7A46001AA6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06068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4" r:id="rId1"/>
    <p:sldLayoutId id="2147483865" r:id="rId2"/>
    <p:sldLayoutId id="2147483866" r:id="rId3"/>
    <p:sldLayoutId id="2147483867" r:id="rId4"/>
    <p:sldLayoutId id="2147483868" r:id="rId5"/>
    <p:sldLayoutId id="2147483869" r:id="rId6"/>
    <p:sldLayoutId id="2147483870" r:id="rId7"/>
    <p:sldLayoutId id="2147483871" r:id="rId8"/>
    <p:sldLayoutId id="2147483872" r:id="rId9"/>
    <p:sldLayoutId id="2147483873" r:id="rId10"/>
    <p:sldLayoutId id="2147483874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P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stomShape 1"/>
          <p:cNvSpPr/>
          <p:nvPr/>
        </p:nvSpPr>
        <p:spPr>
          <a:xfrm>
            <a:off x="1524360" y="417095"/>
            <a:ext cx="9143280" cy="193548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b" wrap="square"/>
          <a:lstStyle/>
          <a:p>
            <a:pPr algn="ctr"/>
            <a:r>
              <a:rPr sz="4000" b="1"/>
              <a:t>Project AXON</a:t>
            </a:r>
            <a:endParaRPr lang="en-US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algn="ctr"/>
            <a:r>
              <a:rPr sz="1800" b="0"/>
              <a:t>An Offline, Self-Healing On-Device AI Agent for Android
with Learned Skill Compilation</a:t>
            </a:r>
          </a:p>
        </p:txBody>
      </p:sp>
      <p:graphicFrame>
        <p:nvGraphicFramePr>
          <p:cNvPr id="5" name="Table 6">
            <a:extLst>
              <a:ext uri="{FF2B5EF4-FFF2-40B4-BE49-F238E27FC236}">
                <a16:creationId xmlns:a16="http://schemas.microsoft.com/office/drawing/2014/main" id="{A41CE2C1-7D4E-796A-4914-0757B21A58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1026255"/>
              </p:ext>
            </p:extLst>
          </p:nvPr>
        </p:nvGraphicFramePr>
        <p:xfrm>
          <a:off x="2113612" y="2750629"/>
          <a:ext cx="7659974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9128">
                  <a:extLst>
                    <a:ext uri="{9D8B030D-6E8A-4147-A177-3AD203B41FA5}">
                      <a16:colId xmlns:a16="http://schemas.microsoft.com/office/drawing/2014/main" val="2644915333"/>
                    </a:ext>
                  </a:extLst>
                </a:gridCol>
                <a:gridCol w="283010">
                  <a:extLst>
                    <a:ext uri="{9D8B030D-6E8A-4147-A177-3AD203B41FA5}">
                      <a16:colId xmlns:a16="http://schemas.microsoft.com/office/drawing/2014/main" val="1635515933"/>
                    </a:ext>
                  </a:extLst>
                </a:gridCol>
                <a:gridCol w="3789044">
                  <a:extLst>
                    <a:ext uri="{9D8B030D-6E8A-4147-A177-3AD203B41FA5}">
                      <a16:colId xmlns:a16="http://schemas.microsoft.com/office/drawing/2014/main" val="3401447390"/>
                    </a:ext>
                  </a:extLst>
                </a:gridCol>
                <a:gridCol w="1838792">
                  <a:extLst>
                    <a:ext uri="{9D8B030D-6E8A-4147-A177-3AD203B41FA5}">
                      <a16:colId xmlns:a16="http://schemas.microsoft.com/office/drawing/2014/main" val="3954960962"/>
                    </a:ext>
                  </a:extLst>
                </a:gridCol>
              </a:tblGrid>
              <a:tr h="370840">
                <a:tc rowSpan="4">
                  <a:txBody>
                    <a:bodyPr/>
                    <a:lstStyle/>
                    <a:p>
                      <a:r>
                        <a:rPr sz="1300" b="1"/>
                        <a:t>Group / BSCS-J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1"/>
                        <a:t>STUDENT NAME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1"/>
                        <a:t>SAP ID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4491136"/>
                  </a:ext>
                </a:extLst>
              </a:tr>
              <a:tr h="370840">
                <a:tc vMerge="1">
                  <a:txBody>
                    <a:bodyPr/>
                    <a:lstStyle/>
                    <a:p/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/>
                        <a:t>Muhammad Muneeb  (Group Leader)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/>
                        <a:t>SU92-BSCSM-F23-___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1995347"/>
                  </a:ext>
                </a:extLst>
              </a:tr>
              <a:tr h="370840">
                <a:tc vMerge="1">
                  <a:txBody>
                    <a:bodyPr/>
                    <a:lstStyle/>
                    <a:p/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/>
                        <a:t>Nasar Fareed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/>
                        <a:t>SU92-BSCSM-F23-___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7488919"/>
                  </a:ext>
                </a:extLst>
              </a:tr>
              <a:tr h="370840">
                <a:tc vMerge="1">
                  <a:txBody>
                    <a:bodyPr/>
                    <a:lstStyle/>
                    <a:p/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/>
                        <a:t>Danish Ali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300" b="0"/>
                        <a:t>SU92-BSCSM-F23-___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340412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sz="1300" b="1"/>
                        <a:t>Supervisor</a:t>
                      </a: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sz="1300" b="1"/>
                        <a:t>Dr. Saleem Mustafa</a:t>
                      </a:r>
                    </a:p>
                  </a:txBody>
                  <a:tcPr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r>
                        <a:rPr sz="1300" b="1"/>
                        <a:t>Group ID: CS-025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6672999"/>
                  </a:ext>
                </a:extLst>
              </a:tr>
            </a:tbl>
          </a:graphicData>
        </a:graphic>
      </p:graphicFrame>
      <p:pic>
        <p:nvPicPr>
          <p:cNvPr id="20" name="Superior University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98960" y="167890"/>
            <a:ext cx="731520" cy="731520"/>
          </a:xfrm>
          <a:prstGeom prst="rect">
            <a:avLst/>
          </a:prstGeom>
        </p:spPr>
      </p:pic>
      <p:sp>
        <p:nvSpPr>
          <p:cNvPr id="21" name="Superior University Wordmark"/>
          <p:cNvSpPr txBox="1"/>
          <p:nvPr/>
        </p:nvSpPr>
        <p:spPr>
          <a:xfrm>
            <a:off x="10667640" y="167890"/>
            <a:ext cx="233172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800" b="1" dirty="0">
                <a:solidFill>
                  <a:srgbClr val="8F1F7E"/>
                </a:solidFill>
                <a:latin typeface="Georgia" panose="02040502050405020303" pitchFamily="18" charset="0"/>
              </a:rPr>
              <a:t>SUPERIOR</a:t>
            </a:r>
          </a:p>
          <a:p>
            <a:pPr algn="l">
              <a:spcBef>
                <a:spcPts val="0"/>
              </a:spcBef>
            </a:pPr>
            <a:r>
              <a:rPr lang="en-US" sz="1200" spc="150" dirty="0">
                <a:solidFill>
                  <a:srgbClr val="595959"/>
                </a:solidFill>
                <a:latin typeface="Georgia" panose="02040502050405020303" pitchFamily="18" charset="0"/>
              </a:rPr>
              <a:t>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3827" y="333751"/>
            <a:ext cx="8261808" cy="1325563"/>
          </a:xfrm>
        </p:spPr>
        <p:txBody>
          <a:bodyPr/>
          <a:lstStyle/>
          <a:p>
            <a:r>
              <a:rPr sz="3200" b="1"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198103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900" b="1">
                <a:solidFill>
                  <a:srgbClr val="156082"/>
                </a:solidFill>
              </a:rPr>
              <a:t>Two billion people use mid-range Android phones on slow, costly or intermittent internet — every AI assistant today sends their screen to a cloud server.</a:t>
            </a:r>
          </a:p>
          <a:p>
            <a:pPr>
              <a:spcAft>
                <a:spcPts val="600"/>
              </a:spcAft>
            </a:pPr>
            <a:r>
              <a:rPr sz="1900" b="1">
                <a:solidFill>
                  <a:srgbClr val="156082"/>
                </a:solidFill>
              </a:rPr>
              <a:t>AXON runs a 1-billion-parameter AI model entirely on the phone.</a:t>
            </a:r>
          </a:p>
          <a:p>
            <a:pPr lvl="1">
              <a:spcAft>
                <a:spcPts val="600"/>
              </a:spcAft>
            </a:pPr>
            <a:r>
              <a:rPr sz="1700" b="0">
                <a:solidFill>
                  <a:srgbClr val="1F1F1F"/>
                </a:solidFill>
              </a:rPr>
              <a:t>No internet. No cloud API. No per-message cost. The app has no network permission at all.</a:t>
            </a:r>
          </a:p>
          <a:p>
            <a:pPr>
              <a:spcAft>
                <a:spcPts val="600"/>
              </a:spcAft>
            </a:pPr>
            <a:r>
              <a:rPr sz="1900" b="1">
                <a:solidFill>
                  <a:srgbClr val="156082"/>
                </a:solidFill>
              </a:rPr>
              <a:t>It operates the phone the way a person does — reads the screen, then taps.</a:t>
            </a:r>
          </a:p>
          <a:p>
            <a:pPr lvl="1">
              <a:spcAft>
                <a:spcPts val="600"/>
              </a:spcAft>
            </a:pPr>
            <a:r>
              <a:rPr sz="1700" b="0">
                <a:solidFill>
                  <a:srgbClr val="1F1F1F"/>
                </a:solidFill>
              </a:rPr>
              <a:t>Send a message, set an alarm, change a setting, navigate — by natural-language request.</a:t>
            </a:r>
          </a:p>
          <a:p>
            <a:pPr>
              <a:spcAft>
                <a:spcPts val="600"/>
              </a:spcAft>
            </a:pPr>
            <a:r>
              <a:rPr sz="1900" b="1">
                <a:solidFill>
                  <a:srgbClr val="156082"/>
                </a:solidFill>
              </a:rPr>
              <a:t>And it gets faster the more it is used.</a:t>
            </a:r>
          </a:p>
          <a:p>
            <a:pPr lvl="1">
              <a:spcAft>
                <a:spcPts val="600"/>
              </a:spcAft>
            </a:pPr>
            <a:r>
              <a:rPr sz="1700" b="0">
                <a:solidFill>
                  <a:srgbClr val="1F1F1F"/>
                </a:solidFill>
              </a:rPr>
              <a:t>Once AXON has learned a task, it repeats it with ZERO AI calls — and remembers it after a restart.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8D08A8-5EA6-CD19-B76C-BFA560E01B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Science, FCS&amp;IT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38F5E5-7932-6ECC-7B34-F7AA32B36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EC05BC-9E72-426D-91BE-7A46001AA6AD}" type="slidenum">
              <a:rPr lang="en-US" smtClean="0"/>
              <a:t>2</a:t>
            </a:fld>
            <a:endParaRPr lang="en-US" dirty="0"/>
          </a:p>
        </p:txBody>
      </p:sp>
      <p:pic>
        <p:nvPicPr>
          <p:cNvPr id="5" name="Superior University Logo">
            <a:extLst>
              <a:ext uri="{FF2B5EF4-FFF2-40B4-BE49-F238E27FC236}">
                <a16:creationId xmlns:a16="http://schemas.microsoft.com/office/drawing/2014/main" id="{32129A7E-DF81-D63F-CE88-54E2584643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64838" y="241492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61209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3827" y="333751"/>
            <a:ext cx="8261808" cy="1325563"/>
          </a:xfrm>
        </p:spPr>
        <p:txBody>
          <a:bodyPr/>
          <a:lstStyle/>
          <a:p>
            <a:r>
              <a:rPr sz="3200" b="1"/>
              <a:t>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2920" y="1783080"/>
            <a:ext cx="5394960" cy="420624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56082"/>
                </a:solidFill>
              </a:rPr>
              <a:t>Why phone AI is cloud-based today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1F1F1F"/>
                </a:solidFill>
              </a:rPr>
              <a:t>Understanding a screen and planning multi-step actions has needed large models.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1F1F1F"/>
                </a:solidFill>
              </a:rPr>
              <a:t>Large models do not fit on a phone, so the screen goes to a server.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56082"/>
                </a:solidFill>
              </a:rPr>
              <a:t>What changed in 2025–2026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1F1F1F"/>
                </a:solidFill>
              </a:rPr>
              <a:t>Small models (Gemma, Phi, Qwen) at 1–4B now run usefully on mid-range phones.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1F1F1F"/>
                </a:solidFill>
              </a:rPr>
              <a:t>Constrained decoding (GBNF grammars) can force a model's output to be valid by construction.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1F1F1F"/>
                </a:solidFill>
              </a:rPr>
              <a:t>Android exposes a structured UI tree — machine-readable text, not screenshots.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8D08A8-5EA6-CD19-B76C-BFA560E01B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Science, FCS&amp;IT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38F5E5-7932-6ECC-7B34-F7AA32B36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EC05BC-9E72-426D-91BE-7A46001AA6AD}" type="slidenum">
              <a:rPr lang="en-US" smtClean="0"/>
              <a:t>3</a:t>
            </a:fld>
            <a:endParaRPr lang="en-US" dirty="0"/>
          </a:p>
        </p:txBody>
      </p:sp>
      <p:pic>
        <p:nvPicPr>
          <p:cNvPr id="5" name="Superior University Logo">
            <a:extLst>
              <a:ext uri="{FF2B5EF4-FFF2-40B4-BE49-F238E27FC236}">
                <a16:creationId xmlns:a16="http://schemas.microsoft.com/office/drawing/2014/main" id="{040A6884-9A67-8771-529C-99AEE8AED5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53800" y="163722"/>
            <a:ext cx="731520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72200" y="178308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56082"/>
                </a:solidFill>
              </a:rPr>
              <a:t>The gap that remains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240280"/>
            <a:ext cx="5349240" cy="1051560"/>
          </a:xfrm>
          <a:prstGeom prst="roundRect">
            <a:avLst/>
          </a:prstGeom>
          <a:solidFill>
            <a:srgbClr val="B4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</a:rPr>
              <a:t>A 1B model is small enough to fit — but not reliable enough to trust</a:t>
            </a:r>
          </a:p>
          <a:p>
            <a:pPr algn="ctr"/>
            <a:r>
              <a:rPr sz="1100">
                <a:solidFill>
                  <a:srgbClr val="FFFFFF"/>
                </a:solidFill>
              </a:rPr>
              <a:t>It invents buttons that do not exist, and misjudges whether an action worked.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3474720"/>
            <a:ext cx="5349240" cy="1051560"/>
          </a:xfrm>
          <a:prstGeom prst="round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</a:rPr>
              <a:t>AXON's thesis: reliability is an ARCHITECTURE problem</a:t>
            </a:r>
          </a:p>
          <a:p>
            <a:pPr algn="ctr"/>
            <a:r>
              <a:rPr sz="1100">
                <a:solidFill>
                  <a:srgbClr val="FFFFFF"/>
                </a:solidFill>
              </a:rPr>
              <a:t>Do not make the model smarter. Make the model's freedom smaller.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4709160"/>
            <a:ext cx="5349240" cy="1051560"/>
          </a:xfrm>
          <a:prstGeom prst="roundRect">
            <a:avLst/>
          </a:prstGeom>
          <a:solidFill>
            <a:srgbClr val="1E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</a:rPr>
              <a:t>Target device: TECNO Camon 20 (~PKR 40,000)</a:t>
            </a:r>
          </a:p>
          <a:p>
            <a:pPr algn="ctr"/>
            <a:r>
              <a:rPr sz="1100">
                <a:solidFill>
                  <a:srgbClr val="FFFFFF"/>
                </a:solidFill>
              </a:rPr>
              <a:t>MediaTek Helio G85 · 8 GB RAM — not a flagship, on purpose.</a:t>
            </a:r>
          </a:p>
        </p:txBody>
      </p:sp>
    </p:spTree>
    <p:extLst>
      <p:ext uri="{BB962C8B-B14F-4D97-AF65-F5344CB8AC3E}">
        <p14:creationId xmlns:p14="http://schemas.microsoft.com/office/powerpoint/2010/main" val="20564506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sz="3200" b="1"/>
              <a:t>Problem Statement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838200" y="1817688"/>
            <a:ext cx="9804662" cy="4411662"/>
          </a:xfrm>
        </p:spPr>
        <p:txBody>
          <a:bodyPr wrap="square"/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156082"/>
                </a:solidFill>
              </a:rPr>
              <a:t>Problem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1F1F1F"/>
                </a:solidFill>
              </a:rPr>
              <a:t>A small on-device model asked to operate a phone hallucinates: it names buttons that are not on screen, believes failed actions succeeded, and derails by step 4 of a 6-step task.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1F1F1F"/>
                </a:solidFill>
              </a:rPr>
              <a:t>Cloud agents are accurate but structurally unavailable — they need constant connectivity, cost money per action, and upload private screens (banking, health, chats) to third-party servers.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56082"/>
                </a:solidFill>
              </a:rPr>
              <a:t>Why solving it matters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1F1F1F"/>
                </a:solidFill>
              </a:rPr>
              <a:t>Privacy by construction: screen contents that never leave the device cannot be leaked.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1F1F1F"/>
                </a:solidFill>
              </a:rPr>
              <a:t>Access: works where data is expensive or unreliable — and costs nothing per use.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1F1F1F"/>
                </a:solidFill>
              </a:rPr>
              <a:t>Assistive value: a voice-driven bridge for low-literacy and low-vision users who can speak a request but cannot navigate a complex UI.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56082"/>
                </a:solidFill>
              </a:rPr>
              <a:t>Impact if successful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1F1F1F"/>
                </a:solidFill>
              </a:rPr>
              <a:t>Demonstrates that a 1B offline model can be made reliable through architecture — turning "small models are unreliable" into a measured, defeated claim.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209A9DD-1DBE-8687-1A86-D23A20990C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Science, FCS&amp;IT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C38484-8D04-9102-ADB3-1BB492CCD7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EC05BC-9E72-426D-91BE-7A46001AA6AD}" type="slidenum">
              <a:rPr lang="en-US" smtClean="0"/>
              <a:t>4</a:t>
            </a:fld>
            <a:endParaRPr lang="en-US"/>
          </a:p>
        </p:txBody>
      </p:sp>
      <p:pic>
        <p:nvPicPr>
          <p:cNvPr id="5" name="Superior University Logo">
            <a:extLst>
              <a:ext uri="{FF2B5EF4-FFF2-40B4-BE49-F238E27FC236}">
                <a16:creationId xmlns:a16="http://schemas.microsoft.com/office/drawing/2014/main" id="{AB80FDF4-3E4C-6679-70BD-9B19774DA7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136525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47404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/>
              <a:t>Aims &amp;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300"/>
              </a:spcAft>
            </a:pPr>
            <a:r>
              <a:rPr sz="1500" b="1">
                <a:solidFill>
                  <a:srgbClr val="156082"/>
                </a:solidFill>
              </a:rPr>
              <a:t>Objective 1 — Constrained on-device action generation</a:t>
            </a:r>
          </a:p>
          <a:p>
            <a:pPr lvl="1">
              <a:spcAft>
                <a:spcPts val="300"/>
              </a:spcAft>
            </a:pPr>
            <a:r>
              <a:rPr sz="1300" b="0">
                <a:solidFill>
                  <a:srgbClr val="1F1F1F"/>
                </a:solidFill>
              </a:rPr>
              <a:t>Run a Q4-quantized ≤2B model fully offline; 100% structurally valid actions across ≥500 generations.</a:t>
            </a:r>
          </a:p>
          <a:p>
            <a:pPr>
              <a:spcAft>
                <a:spcPts val="300"/>
              </a:spcAft>
            </a:pPr>
            <a:r>
              <a:rPr sz="1500" b="1">
                <a:solidFill>
                  <a:srgbClr val="156082"/>
                </a:solidFill>
              </a:rPr>
              <a:t>Objective 2 — Safe execution</a:t>
            </a:r>
          </a:p>
          <a:p>
            <a:pPr lvl="1">
              <a:spcAft>
                <a:spcPts val="300"/>
              </a:spcAft>
            </a:pPr>
            <a:r>
              <a:rPr sz="1300" b="0">
                <a:solidFill>
                  <a:srgbClr val="1F1F1F"/>
                </a:solidFill>
              </a:rPr>
              <a:t>Planner–executor split with a precondition gate that rejects impossible actions BEFORE the device is touched.</a:t>
            </a:r>
          </a:p>
          <a:p>
            <a:pPr>
              <a:spcAft>
                <a:spcPts val="300"/>
              </a:spcAft>
            </a:pPr>
            <a:r>
              <a:rPr sz="1500" b="1">
                <a:solidFill>
                  <a:srgbClr val="156082"/>
                </a:solidFill>
              </a:rPr>
              <a:t>Objective 3 — Deterministic verification and self-healing</a:t>
            </a:r>
          </a:p>
          <a:p>
            <a:pPr lvl="1">
              <a:spcAft>
                <a:spcPts val="300"/>
              </a:spcAft>
            </a:pPr>
            <a:r>
              <a:rPr sz="1300" b="0">
                <a:solidFill>
                  <a:srgbClr val="1F1F1F"/>
                </a:solidFill>
              </a:rPr>
              <a:t>Verify every action by UI-tree diff (no AI judging its own work); recover ≥60% of injected failures.</a:t>
            </a:r>
          </a:p>
          <a:p>
            <a:pPr>
              <a:spcAft>
                <a:spcPts val="300"/>
              </a:spcAft>
            </a:pPr>
            <a:r>
              <a:rPr sz="1500" b="1">
                <a:solidFill>
                  <a:srgbClr val="156082"/>
                </a:solidFill>
              </a:rPr>
              <a:t>Objective 4 — Learned skill compilation</a:t>
            </a:r>
          </a:p>
          <a:p>
            <a:pPr lvl="1">
              <a:spcAft>
                <a:spcPts val="300"/>
              </a:spcAft>
            </a:pPr>
            <a:r>
              <a:rPr sz="1300" b="0">
                <a:solidFill>
                  <a:srgbClr val="1F1F1F"/>
                </a:solidFill>
              </a:rPr>
              <a:t>Compile a verified task trace into a replayable skill: 0 AI calls on repeat, ≥5× faster than a cold run.</a:t>
            </a:r>
          </a:p>
          <a:p>
            <a:pPr>
              <a:spcAft>
                <a:spcPts val="300"/>
              </a:spcAft>
            </a:pPr>
            <a:r>
              <a:rPr sz="1500" b="1">
                <a:solidFill>
                  <a:srgbClr val="156082"/>
                </a:solidFill>
              </a:rPr>
              <a:t>Objective 5 — Rigorous evaluation</a:t>
            </a:r>
          </a:p>
          <a:p>
            <a:pPr lvl="1">
              <a:spcAft>
                <a:spcPts val="300"/>
              </a:spcAft>
            </a:pPr>
            <a:r>
              <a:rPr sz="1300" b="0">
                <a:solidFill>
                  <a:srgbClr val="1F1F1F"/>
                </a:solidFill>
              </a:rPr>
              <a:t>AXON-Bench: multi-step task benchmark with an ablation matrix and reference baselines.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5A8645-FD8E-91EF-C811-8A8680BFAB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Science, FCS&amp;IT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CE7BBD-B303-5BF5-A9FF-E663A9E68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EC05BC-9E72-426D-91BE-7A46001AA6AD}" type="slidenum">
              <a:rPr lang="en-US" smtClean="0"/>
              <a:t>5</a:t>
            </a:fld>
            <a:endParaRPr lang="en-US"/>
          </a:p>
        </p:txBody>
      </p:sp>
      <p:pic>
        <p:nvPicPr>
          <p:cNvPr id="5" name="Superior University Logo">
            <a:extLst>
              <a:ext uri="{FF2B5EF4-FFF2-40B4-BE49-F238E27FC236}">
                <a16:creationId xmlns:a16="http://schemas.microsoft.com/office/drawing/2014/main" id="{5DA058A6-7DE4-7F15-B376-3F58D112BE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230188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80493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/>
              <a:t>Literature Study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1645920"/>
            <a:ext cx="0" cy="1234440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156082"/>
                </a:solidFill>
              </a:rPr>
              <a:t>Three existing approaches — and what each one lacks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CB9670-D0E7-D3C6-2729-5DCC492CA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Science, FCS&amp;IT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997186-5D88-E7C8-A068-197931D718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EC05BC-9E72-426D-91BE-7A46001AA6AD}" type="slidenum">
              <a:rPr lang="en-US" smtClean="0"/>
              <a:t>6</a:t>
            </a:fld>
            <a:endParaRPr lang="en-US"/>
          </a:p>
        </p:txBody>
      </p:sp>
      <p:pic>
        <p:nvPicPr>
          <p:cNvPr id="5" name="Superior University Logo">
            <a:extLst>
              <a:ext uri="{FF2B5EF4-FFF2-40B4-BE49-F238E27FC236}">
                <a16:creationId xmlns:a16="http://schemas.microsoft.com/office/drawing/2014/main" id="{3218363A-2034-584E-D455-9CF4A11AE1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230188"/>
            <a:ext cx="731520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1248" y="2788920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56082"/>
                </a:solidFill>
              </a:rPr>
              <a:t>Approach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788920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56082"/>
                </a:solidFill>
              </a:rPr>
              <a:t>Examples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2788920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56082"/>
                </a:solidFill>
              </a:rPr>
              <a:t>Limitation for our 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3154680"/>
            <a:ext cx="31089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1F1F"/>
                </a:solidFill>
              </a:rPr>
              <a:t>Vision-language screenshot loops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3154680"/>
            <a:ext cx="2103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1F1F"/>
                </a:solidFill>
              </a:rPr>
              <a:t>AutoGLM, Roubao [3]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3154680"/>
            <a:ext cx="50292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1F1F"/>
                </a:solidFill>
              </a:rPr>
              <a:t>Slow and non-deterministic; re-solves every task from scratch; needs a large model.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3867912"/>
            <a:ext cx="31089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1F1F"/>
                </a:solidFill>
              </a:rPr>
              <a:t>Hand-written tool runners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3867912"/>
            <a:ext cx="2103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1F1F"/>
                </a:solidFill>
              </a:rPr>
              <a:t>Mythara, Operit AI [4]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3867912"/>
            <a:ext cx="50292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1F1F"/>
                </a:solidFill>
              </a:rPr>
              <a:t>Tool library is static and hand-maintained; reasoning quality depends on model size.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4581144"/>
            <a:ext cx="31089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1F1F"/>
                </a:solidFill>
              </a:rPr>
              <a:t>Trace-to-skill compilation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581144"/>
            <a:ext cx="2103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1F1F"/>
                </a:solidFill>
              </a:rPr>
              <a:t>SkillDroid, 2026 [2]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4581144"/>
            <a:ext cx="50292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1F1F"/>
                </a:solidFill>
              </a:rPr>
              <a:t>Closest work — but calls CLOUD GPT models, so it never faces the malformed-output problem.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1248" y="5349240"/>
            <a:ext cx="10515600" cy="868680"/>
          </a:xfrm>
          <a:prstGeom prst="round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RESEARCH GAP  —  No existing system makes a sub-2B, fully offline model reliable enough to drive a phone.
Cloud-scale models do not have the problem we are solving.</a:t>
            </a:r>
          </a:p>
        </p:txBody>
      </p:sp>
    </p:spTree>
    <p:extLst>
      <p:ext uri="{BB962C8B-B14F-4D97-AF65-F5344CB8AC3E}">
        <p14:creationId xmlns:p14="http://schemas.microsoft.com/office/powerpoint/2010/main" val="33342559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/>
              <a:t>Methodology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1627632"/>
            <a:ext cx="0" cy="1051560"/>
          </a:xfrm>
        </p:spPr>
        <p:txBody>
          <a:bodyPr wrap="square"/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56082"/>
                </a:solidFill>
              </a:rPr>
              <a:t>Make the model's freedom smaller: three structural defences, then learn from success.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A92709-9CE3-D463-BBF7-4E4308F0BE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Science, FCS&amp;IT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B1B1C7-6EAD-5DAF-4D59-59257EB4AD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EC05BC-9E72-426D-91BE-7A46001AA6AD}" type="slidenum">
              <a:rPr lang="en-US" smtClean="0"/>
              <a:t>7</a:t>
            </a:fld>
            <a:endParaRPr lang="en-US"/>
          </a:p>
        </p:txBody>
      </p:sp>
      <p:pic>
        <p:nvPicPr>
          <p:cNvPr id="5" name="Superior University Logo">
            <a:extLst>
              <a:ext uri="{FF2B5EF4-FFF2-40B4-BE49-F238E27FC236}">
                <a16:creationId xmlns:a16="http://schemas.microsoft.com/office/drawing/2014/main" id="{9EE56426-8868-7DB3-6C4E-30932AF2CA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230188"/>
            <a:ext cx="731520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41248" y="2697480"/>
            <a:ext cx="2542032" cy="1234440"/>
          </a:xfrm>
          <a:prstGeom prst="round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</a:rPr>
              <a:t>1 · Grammar-constrained generation</a:t>
            </a:r>
          </a:p>
          <a:p>
            <a:pPr algn="ctr"/>
            <a:r>
              <a:rPr sz="1000">
                <a:solidFill>
                  <a:srgbClr val="FFFFFF"/>
                </a:solidFill>
              </a:rPr>
              <a:t>Malformed actions are UNREACHABLE at the sampler — not rejected afterwards.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93008" y="2697480"/>
            <a:ext cx="2542032" cy="1234440"/>
          </a:xfrm>
          <a:prstGeom prst="roundRect">
            <a:avLst/>
          </a:prstGeom>
          <a:solidFill>
            <a:srgbClr val="1E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</a:rPr>
              <a:t>2 · Precondition gate</a:t>
            </a:r>
          </a:p>
          <a:p>
            <a:pPr algn="ctr"/>
            <a:r>
              <a:rPr sz="1000">
                <a:solidFill>
                  <a:srgbClr val="FFFFFF"/>
                </a:solidFill>
              </a:rPr>
              <a:t>An action naming an element not on screen is refused before the device is touched.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44768" y="2697480"/>
            <a:ext cx="2542032" cy="1234440"/>
          </a:xfrm>
          <a:prstGeom prst="roundRect">
            <a:avLst/>
          </a:prstGeom>
          <a:solidFill>
            <a:srgbClr val="A02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</a:rPr>
              <a:t>3 · Deterministic verifier</a:t>
            </a:r>
          </a:p>
          <a:p>
            <a:pPr algn="ctr"/>
            <a:r>
              <a:rPr sz="1000">
                <a:solidFill>
                  <a:srgbClr val="FFFFFF"/>
                </a:solidFill>
              </a:rPr>
              <a:t>UI-tree diff decides success — the AI never judges its own work.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96528" y="2697480"/>
            <a:ext cx="2542032" cy="1234440"/>
          </a:xfrm>
          <a:prstGeom prst="roundRect">
            <a:avLst/>
          </a:prstGeom>
          <a:solidFill>
            <a:srgbClr val="B4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</a:rPr>
              <a:t>4 · Skill compilation</a:t>
            </a:r>
          </a:p>
          <a:p>
            <a:pPr algn="ctr"/>
            <a:r>
              <a:rPr sz="1000">
                <a:solidFill>
                  <a:srgbClr val="FFFFFF"/>
                </a:solidFill>
              </a:rPr>
              <a:t>A verified trace is frozen into a replayable script — future runs cost 0 AI calls.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41605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56082"/>
                </a:solidFill>
              </a:rPr>
              <a:t>Tools &amp; technologies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4498848"/>
            <a:ext cx="10515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/>
              <a:t>Language / core:  Kotlin Multiplatform  —  portable reliability core with a swappable OS driver layer</a:t>
            </a:r>
          </a:p>
          <a:p>
            <a:r>
              <a:rPr sz="1300"/>
              <a:t>Inference:  llama.cpp via our own JNI bridge (GGUF, Q4_K_M)  ·  Model: Gemma 3 1B  ·  GBNF constrained decoding</a:t>
            </a:r>
          </a:p>
          <a:p>
            <a:r>
              <a:rPr sz="1300"/>
              <a:t>Device control:  Android AccessibilityService (UI tree + gestures)  ·  UI: Jetpack Compose  ·  Foreground-service gateway</a:t>
            </a:r>
          </a:p>
          <a:p>
            <a:r>
              <a:rPr sz="1300"/>
              <a:t>Evaluation:  AXON-Bench — task success, valid-action rate, AI calls/task, latency, energy per task</a:t>
            </a:r>
          </a:p>
        </p:txBody>
      </p:sp>
    </p:spTree>
    <p:extLst>
      <p:ext uri="{BB962C8B-B14F-4D97-AF65-F5344CB8AC3E}">
        <p14:creationId xmlns:p14="http://schemas.microsoft.com/office/powerpoint/2010/main" val="967086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/>
              <a:t>Proposed Design Block Diagram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701B2A1-91DF-83A8-15B1-72A6055059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Science, FCS&amp;IT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73DE1D-EE40-B964-49FF-4FEC82AA3B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EC05BC-9E72-426D-91BE-7A46001AA6AD}" type="slidenum">
              <a:rPr lang="en-US" smtClean="0"/>
              <a:t>8</a:t>
            </a:fld>
            <a:endParaRPr lang="en-US"/>
          </a:p>
        </p:txBody>
      </p:sp>
      <p:pic>
        <p:nvPicPr>
          <p:cNvPr id="6" name="Superior University Logo">
            <a:extLst>
              <a:ext uri="{FF2B5EF4-FFF2-40B4-BE49-F238E27FC236}">
                <a16:creationId xmlns:a16="http://schemas.microsoft.com/office/drawing/2014/main" id="{11833320-AB2F-E9C7-5B18-4ED1E27950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230188"/>
            <a:ext cx="731520" cy="731520"/>
          </a:xfrm>
          <a:prstGeom prst="rect">
            <a:avLst/>
          </a:prstGeom>
        </p:spPr>
      </p:pic>
      <p:sp>
        <p:nvSpPr>
          <p:cNvPr id="8196" name="TextBox 8195"/>
          <p:cNvSpPr txBox="1"/>
          <p:nvPr/>
        </p:nvSpPr>
        <p:spPr>
          <a:xfrm>
            <a:off x="502920" y="17373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56082"/>
                </a:solidFill>
              </a:rPr>
              <a:t>USER GOAL   "send on my way to Ammi on WhatsApp"</a:t>
            </a:r>
          </a:p>
        </p:txBody>
      </p:sp>
      <p:sp>
        <p:nvSpPr>
          <p:cNvPr id="8197" name="Rounded Rectangle 8196"/>
          <p:cNvSpPr/>
          <p:nvPr/>
        </p:nvSpPr>
        <p:spPr>
          <a:xfrm>
            <a:off x="502920" y="2048256"/>
            <a:ext cx="2148840" cy="658368"/>
          </a:xfrm>
          <a:prstGeom prst="round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</a:rPr>
              <a:t>Skill Store</a:t>
            </a:r>
          </a:p>
          <a:p>
            <a:pPr algn="ctr"/>
            <a:r>
              <a:rPr sz="900">
                <a:solidFill>
                  <a:srgbClr val="FFFFFF"/>
                </a:solidFill>
              </a:rPr>
              <a:t>Have we done this before?</a:t>
            </a:r>
          </a:p>
        </p:txBody>
      </p:sp>
      <p:sp>
        <p:nvSpPr>
          <p:cNvPr id="8198" name="Right Arrow 8197"/>
          <p:cNvSpPr/>
          <p:nvPr/>
        </p:nvSpPr>
        <p:spPr>
          <a:xfrm>
            <a:off x="2743200" y="2249424"/>
            <a:ext cx="274320" cy="237744"/>
          </a:xfrm>
          <a:prstGeom prst="rightArrow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99" name="Rounded Rectangle 8198"/>
          <p:cNvSpPr/>
          <p:nvPr/>
        </p:nvSpPr>
        <p:spPr>
          <a:xfrm>
            <a:off x="3127248" y="2048256"/>
            <a:ext cx="2148840" cy="658368"/>
          </a:xfrm>
          <a:prstGeom prst="roundRect">
            <a:avLst/>
          </a:prstGeom>
          <a:solidFill>
            <a:srgbClr val="A02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</a:rPr>
              <a:t>REPLAY path</a:t>
            </a:r>
          </a:p>
          <a:p>
            <a:pPr algn="ctr"/>
            <a:r>
              <a:rPr sz="900">
                <a:solidFill>
                  <a:srgbClr val="FFFFFF"/>
                </a:solidFill>
              </a:rPr>
              <a:t>0 AI calls · 17 ms</a:t>
            </a:r>
          </a:p>
        </p:txBody>
      </p:sp>
      <p:sp>
        <p:nvSpPr>
          <p:cNvPr id="8200" name="TextBox 8199"/>
          <p:cNvSpPr txBox="1"/>
          <p:nvPr/>
        </p:nvSpPr>
        <p:spPr>
          <a:xfrm>
            <a:off x="5440680" y="2139696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A02B93"/>
                </a:solidFill>
              </a:rPr>
              <a:t>hit ➜ done</a:t>
            </a:r>
          </a:p>
        </p:txBody>
      </p:sp>
      <p:sp>
        <p:nvSpPr>
          <p:cNvPr id="8201" name="TextBox 8200"/>
          <p:cNvSpPr txBox="1"/>
          <p:nvPr/>
        </p:nvSpPr>
        <p:spPr>
          <a:xfrm>
            <a:off x="502920" y="281635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1F1F"/>
                </a:solidFill>
              </a:rPr>
              <a:t>MISS ➜ PLAN path  (the cold, AI-driven route)</a:t>
            </a:r>
          </a:p>
        </p:txBody>
      </p:sp>
      <p:sp>
        <p:nvSpPr>
          <p:cNvPr id="8202" name="Rounded Rectangle 8201"/>
          <p:cNvSpPr/>
          <p:nvPr/>
        </p:nvSpPr>
        <p:spPr>
          <a:xfrm>
            <a:off x="502920" y="3127248"/>
            <a:ext cx="2011680" cy="914400"/>
          </a:xfrm>
          <a:prstGeom prst="round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 · PERCEIVE</a:t>
            </a:r>
          </a:p>
          <a:p>
            <a:pPr algn="ctr"/>
            <a:r>
              <a:rPr sz="900">
                <a:solidFill>
                  <a:srgbClr val="FFFFFF"/>
                </a:solidFill>
              </a:rPr>
              <a:t>Accessibility UI tree ➜ compact screen</a:t>
            </a:r>
          </a:p>
        </p:txBody>
      </p:sp>
      <p:sp>
        <p:nvSpPr>
          <p:cNvPr id="8203" name="Right Arrow 8202"/>
          <p:cNvSpPr/>
          <p:nvPr/>
        </p:nvSpPr>
        <p:spPr>
          <a:xfrm>
            <a:off x="2606040" y="3456432"/>
            <a:ext cx="274320" cy="237744"/>
          </a:xfrm>
          <a:prstGeom prst="rightArrow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04" name="Rounded Rectangle 8203"/>
          <p:cNvSpPr/>
          <p:nvPr/>
        </p:nvSpPr>
        <p:spPr>
          <a:xfrm>
            <a:off x="2971800" y="3127248"/>
            <a:ext cx="2011680" cy="914400"/>
          </a:xfrm>
          <a:prstGeom prst="round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 · PLAN</a:t>
            </a:r>
          </a:p>
          <a:p>
            <a:pPr algn="ctr"/>
            <a:r>
              <a:rPr sz="900">
                <a:solidFill>
                  <a:srgbClr val="FFFFFF"/>
                </a:solidFill>
              </a:rPr>
              <a:t>1B model + GBNF grammar</a:t>
            </a:r>
          </a:p>
        </p:txBody>
      </p:sp>
      <p:sp>
        <p:nvSpPr>
          <p:cNvPr id="8205" name="Right Arrow 8204"/>
          <p:cNvSpPr/>
          <p:nvPr/>
        </p:nvSpPr>
        <p:spPr>
          <a:xfrm>
            <a:off x="5074920" y="3456432"/>
            <a:ext cx="274320" cy="237744"/>
          </a:xfrm>
          <a:prstGeom prst="rightArrow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06" name="Rounded Rectangle 8205"/>
          <p:cNvSpPr/>
          <p:nvPr/>
        </p:nvSpPr>
        <p:spPr>
          <a:xfrm>
            <a:off x="5440680" y="3127248"/>
            <a:ext cx="2011680" cy="914400"/>
          </a:xfrm>
          <a:prstGeom prst="roundRect">
            <a:avLst/>
          </a:prstGeom>
          <a:solidFill>
            <a:srgbClr val="1E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FFFFFF"/>
                </a:solidFill>
              </a:rPr>
              <a:t>3 · GATE</a:t>
            </a:r>
          </a:p>
          <a:p>
            <a:pPr algn="ctr"/>
            <a:r>
              <a:rPr sz="900">
                <a:solidFill>
                  <a:srgbClr val="FFFFFF"/>
                </a:solidFill>
              </a:rPr>
              <a:t>Reject impossible actions</a:t>
            </a:r>
          </a:p>
        </p:txBody>
      </p:sp>
      <p:sp>
        <p:nvSpPr>
          <p:cNvPr id="8207" name="Right Arrow 8206"/>
          <p:cNvSpPr/>
          <p:nvPr/>
        </p:nvSpPr>
        <p:spPr>
          <a:xfrm>
            <a:off x="7543800" y="3456432"/>
            <a:ext cx="274320" cy="237744"/>
          </a:xfrm>
          <a:prstGeom prst="rightArrow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08" name="Rounded Rectangle 8207"/>
          <p:cNvSpPr/>
          <p:nvPr/>
        </p:nvSpPr>
        <p:spPr>
          <a:xfrm>
            <a:off x="7909560" y="3127248"/>
            <a:ext cx="1874519" cy="914400"/>
          </a:xfrm>
          <a:prstGeom prst="roundRect">
            <a:avLst/>
          </a:prstGeom>
          <a:solidFill>
            <a:srgbClr val="1E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FFFFFF"/>
                </a:solidFill>
              </a:rPr>
              <a:t>4 · ACT</a:t>
            </a:r>
          </a:p>
          <a:p>
            <a:pPr algn="ctr"/>
            <a:r>
              <a:rPr sz="900">
                <a:solidFill>
                  <a:srgbClr val="FFFFFF"/>
                </a:solidFill>
              </a:rPr>
              <a:t>Dispatch gesture</a:t>
            </a:r>
          </a:p>
        </p:txBody>
      </p:sp>
      <p:sp>
        <p:nvSpPr>
          <p:cNvPr id="8209" name="Right Arrow 8208"/>
          <p:cNvSpPr/>
          <p:nvPr/>
        </p:nvSpPr>
        <p:spPr>
          <a:xfrm>
            <a:off x="9875520" y="3456432"/>
            <a:ext cx="274320" cy="237744"/>
          </a:xfrm>
          <a:prstGeom prst="rightArrow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10" name="Rounded Rectangle 8209"/>
          <p:cNvSpPr/>
          <p:nvPr/>
        </p:nvSpPr>
        <p:spPr>
          <a:xfrm>
            <a:off x="10241280" y="3127248"/>
            <a:ext cx="1417320" cy="914400"/>
          </a:xfrm>
          <a:prstGeom prst="roundRect">
            <a:avLst/>
          </a:prstGeom>
          <a:solidFill>
            <a:srgbClr val="A02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FFFFFF"/>
                </a:solidFill>
              </a:rPr>
              <a:t>5 · VERIFY</a:t>
            </a:r>
          </a:p>
          <a:p>
            <a:pPr algn="ctr"/>
            <a:r>
              <a:rPr sz="900">
                <a:solidFill>
                  <a:srgbClr val="FFFFFF"/>
                </a:solidFill>
              </a:rPr>
              <a:t>Tree diff</a:t>
            </a:r>
          </a:p>
        </p:txBody>
      </p:sp>
      <p:sp>
        <p:nvSpPr>
          <p:cNvPr id="8211" name="TextBox 8210"/>
          <p:cNvSpPr txBox="1"/>
          <p:nvPr/>
        </p:nvSpPr>
        <p:spPr>
          <a:xfrm>
            <a:off x="2971800" y="4133087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B46E00"/>
                </a:solidFill>
              </a:rPr>
              <a:t>◀ mismatch ➜ SELF-HEAL: re-plan with the failure injected</a:t>
            </a:r>
          </a:p>
        </p:txBody>
      </p:sp>
      <p:sp>
        <p:nvSpPr>
          <p:cNvPr id="8212" name="Rounded Rectangle 8211"/>
          <p:cNvSpPr/>
          <p:nvPr/>
        </p:nvSpPr>
        <p:spPr>
          <a:xfrm>
            <a:off x="502920" y="4434840"/>
            <a:ext cx="2011680" cy="777240"/>
          </a:xfrm>
          <a:prstGeom prst="round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FFFFFF"/>
                </a:solidFill>
              </a:rPr>
              <a:t>Trace Memory</a:t>
            </a:r>
          </a:p>
          <a:p>
            <a:pPr algn="ctr"/>
            <a:r>
              <a:rPr sz="900">
                <a:solidFill>
                  <a:srgbClr val="FFFFFF"/>
                </a:solidFill>
              </a:rPr>
              <a:t>Every verified step recorded</a:t>
            </a:r>
          </a:p>
        </p:txBody>
      </p:sp>
      <p:sp>
        <p:nvSpPr>
          <p:cNvPr id="8213" name="Right Arrow 8212"/>
          <p:cNvSpPr/>
          <p:nvPr/>
        </p:nvSpPr>
        <p:spPr>
          <a:xfrm>
            <a:off x="2606040" y="4690872"/>
            <a:ext cx="274320" cy="237744"/>
          </a:xfrm>
          <a:prstGeom prst="rightArrow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14" name="Rounded Rectangle 8213"/>
          <p:cNvSpPr/>
          <p:nvPr/>
        </p:nvSpPr>
        <p:spPr>
          <a:xfrm>
            <a:off x="2971800" y="4434840"/>
            <a:ext cx="2011680" cy="777240"/>
          </a:xfrm>
          <a:prstGeom prst="roundRect">
            <a:avLst/>
          </a:prstGeom>
          <a:solidFill>
            <a:srgbClr val="B4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FFFFFF"/>
                </a:solidFill>
              </a:rPr>
              <a:t>Skill Compiler</a:t>
            </a:r>
          </a:p>
          <a:p>
            <a:pPr algn="ctr"/>
            <a:r>
              <a:rPr sz="900">
                <a:solidFill>
                  <a:srgbClr val="FFFFFF"/>
                </a:solidFill>
              </a:rPr>
              <a:t>Trace ➜ parameterised skill</a:t>
            </a:r>
          </a:p>
        </p:txBody>
      </p:sp>
      <p:sp>
        <p:nvSpPr>
          <p:cNvPr id="8215" name="Right Arrow 8214"/>
          <p:cNvSpPr/>
          <p:nvPr/>
        </p:nvSpPr>
        <p:spPr>
          <a:xfrm>
            <a:off x="5074920" y="4690872"/>
            <a:ext cx="274320" cy="237744"/>
          </a:xfrm>
          <a:prstGeom prst="rightArrow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16" name="Rounded Rectangle 8215"/>
          <p:cNvSpPr/>
          <p:nvPr/>
        </p:nvSpPr>
        <p:spPr>
          <a:xfrm>
            <a:off x="5440680" y="4434840"/>
            <a:ext cx="2011680" cy="777240"/>
          </a:xfrm>
          <a:prstGeom prst="roundRect">
            <a:avLst/>
          </a:prstGeom>
          <a:solidFill>
            <a:srgbClr val="A02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FFFFFF"/>
                </a:solidFill>
              </a:rPr>
              <a:t>New Skill Saved</a:t>
            </a:r>
          </a:p>
          <a:p>
            <a:pPr algn="ctr"/>
            <a:r>
              <a:rPr sz="900">
                <a:solidFill>
                  <a:srgbClr val="FFFFFF"/>
                </a:solidFill>
              </a:rPr>
              <a:t>Next time: free</a:t>
            </a:r>
          </a:p>
        </p:txBody>
      </p:sp>
      <p:sp>
        <p:nvSpPr>
          <p:cNvPr id="8217" name="Up Arrow 8216"/>
          <p:cNvSpPr/>
          <p:nvPr/>
        </p:nvSpPr>
        <p:spPr>
          <a:xfrm>
            <a:off x="7543800" y="4690872"/>
            <a:ext cx="237744" cy="777240"/>
          </a:xfrm>
          <a:prstGeom prst="upArrow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18" name="TextBox 8217"/>
          <p:cNvSpPr txBox="1"/>
          <p:nvPr/>
        </p:nvSpPr>
        <p:spPr>
          <a:xfrm>
            <a:off x="7863840" y="4526279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A02B93"/>
                </a:solidFill>
              </a:rPr>
              <a:t>the learning loop closes —
the system gets faster with use</a:t>
            </a:r>
          </a:p>
        </p:txBody>
      </p:sp>
      <p:sp>
        <p:nvSpPr>
          <p:cNvPr id="8219" name="Rounded Rectangle 8218"/>
          <p:cNvSpPr/>
          <p:nvPr/>
        </p:nvSpPr>
        <p:spPr>
          <a:xfrm>
            <a:off x="502920" y="5440680"/>
            <a:ext cx="11155680" cy="566928"/>
          </a:xfrm>
          <a:prstGeom prst="roundRect">
            <a:avLst/>
          </a:prstGeom>
          <a:solidFill>
            <a:srgbClr val="E9EFF4"/>
          </a:solidFill>
          <a:ln>
            <a:solidFill>
              <a:srgbClr val="1560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156082"/>
                </a:solidFill>
              </a:rPr>
              <a:t>SAFETY LAYER (runs across every stage):  no INTERNET permission  ·  password / OTP fields never read  ·  visible foreground service  ·  irreversible actions need your approval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F6A6FC-D12F-0211-296B-A4402FF211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/>
              <a:t>Project Timeline</a:t>
            </a:r>
          </a:p>
        </p:txBody>
      </p:sp>
      <p:graphicFrame>
        <p:nvGraphicFramePr>
          <p:cNvPr id="6" name="Table 6">
            <a:extLst>
              <a:ext uri="{FF2B5EF4-FFF2-40B4-BE49-F238E27FC236}">
                <a16:creationId xmlns:a16="http://schemas.microsoft.com/office/drawing/2014/main" id="{85D39D8F-BBF8-51CC-64DB-AB03F24E01E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87076347"/>
              </p:ext>
            </p:extLst>
          </p:nvPr>
        </p:nvGraphicFramePr>
        <p:xfrm>
          <a:off x="838200" y="2395728"/>
          <a:ext cx="10653072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4942">
                  <a:extLst>
                    <a:ext uri="{9D8B030D-6E8A-4147-A177-3AD203B41FA5}">
                      <a16:colId xmlns:a16="http://schemas.microsoft.com/office/drawing/2014/main" val="1404387144"/>
                    </a:ext>
                  </a:extLst>
                </a:gridCol>
                <a:gridCol w="4594726">
                  <a:extLst>
                    <a:ext uri="{9D8B030D-6E8A-4147-A177-3AD203B41FA5}">
                      <a16:colId xmlns:a16="http://schemas.microsoft.com/office/drawing/2014/main" val="2284358643"/>
                    </a:ext>
                  </a:extLst>
                </a:gridCol>
                <a:gridCol w="478617">
                  <a:extLst>
                    <a:ext uri="{9D8B030D-6E8A-4147-A177-3AD203B41FA5}">
                      <a16:colId xmlns:a16="http://schemas.microsoft.com/office/drawing/2014/main" val="3731193998"/>
                    </a:ext>
                  </a:extLst>
                </a:gridCol>
                <a:gridCol w="478617">
                  <a:extLst>
                    <a:ext uri="{9D8B030D-6E8A-4147-A177-3AD203B41FA5}">
                      <a16:colId xmlns:a16="http://schemas.microsoft.com/office/drawing/2014/main" val="2696453193"/>
                    </a:ext>
                  </a:extLst>
                </a:gridCol>
                <a:gridCol w="478617">
                  <a:extLst>
                    <a:ext uri="{9D8B030D-6E8A-4147-A177-3AD203B41FA5}">
                      <a16:colId xmlns:a16="http://schemas.microsoft.com/office/drawing/2014/main" val="4127567502"/>
                    </a:ext>
                  </a:extLst>
                </a:gridCol>
                <a:gridCol w="478617">
                  <a:extLst>
                    <a:ext uri="{9D8B030D-6E8A-4147-A177-3AD203B41FA5}">
                      <a16:colId xmlns:a16="http://schemas.microsoft.com/office/drawing/2014/main" val="1658967277"/>
                    </a:ext>
                  </a:extLst>
                </a:gridCol>
                <a:gridCol w="478617">
                  <a:extLst>
                    <a:ext uri="{9D8B030D-6E8A-4147-A177-3AD203B41FA5}">
                      <a16:colId xmlns:a16="http://schemas.microsoft.com/office/drawing/2014/main" val="337343360"/>
                    </a:ext>
                  </a:extLst>
                </a:gridCol>
                <a:gridCol w="478617">
                  <a:extLst>
                    <a:ext uri="{9D8B030D-6E8A-4147-A177-3AD203B41FA5}">
                      <a16:colId xmlns:a16="http://schemas.microsoft.com/office/drawing/2014/main" val="799796670"/>
                    </a:ext>
                  </a:extLst>
                </a:gridCol>
                <a:gridCol w="478617">
                  <a:extLst>
                    <a:ext uri="{9D8B030D-6E8A-4147-A177-3AD203B41FA5}">
                      <a16:colId xmlns:a16="http://schemas.microsoft.com/office/drawing/2014/main" val="1103929198"/>
                    </a:ext>
                  </a:extLst>
                </a:gridCol>
                <a:gridCol w="478617">
                  <a:extLst>
                    <a:ext uri="{9D8B030D-6E8A-4147-A177-3AD203B41FA5}">
                      <a16:colId xmlns:a16="http://schemas.microsoft.com/office/drawing/2014/main" val="232952298"/>
                    </a:ext>
                  </a:extLst>
                </a:gridCol>
                <a:gridCol w="478617">
                  <a:extLst>
                    <a:ext uri="{9D8B030D-6E8A-4147-A177-3AD203B41FA5}">
                      <a16:colId xmlns:a16="http://schemas.microsoft.com/office/drawing/2014/main" val="30993641"/>
                    </a:ext>
                  </a:extLst>
                </a:gridCol>
                <a:gridCol w="478617">
                  <a:extLst>
                    <a:ext uri="{9D8B030D-6E8A-4147-A177-3AD203B41FA5}">
                      <a16:colId xmlns:a16="http://schemas.microsoft.com/office/drawing/2014/main" val="2078943888"/>
                    </a:ext>
                  </a:extLst>
                </a:gridCol>
                <a:gridCol w="478617">
                  <a:extLst>
                    <a:ext uri="{9D8B030D-6E8A-4147-A177-3AD203B41FA5}">
                      <a16:colId xmlns:a16="http://schemas.microsoft.com/office/drawing/2014/main" val="4102007062"/>
                    </a:ext>
                  </a:extLst>
                </a:gridCol>
                <a:gridCol w="478617">
                  <a:extLst>
                    <a:ext uri="{9D8B030D-6E8A-4147-A177-3AD203B41FA5}">
                      <a16:colId xmlns:a16="http://schemas.microsoft.com/office/drawing/2014/main" val="17958413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gridSpan="12"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Months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5162469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Tasks /Activity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Tasks /Activity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06052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Literature review &amp; problem definition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4F5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4F5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87125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System design — contracts, schemas, action grammar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4F5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4F5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526809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On-device inference (llama.cpp JNI) + constrained decoding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4F5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4F5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16130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Perception, executor &amp; precondition gate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4F5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4F5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76563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Planner in the loop + deterministic verifier / self-healing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4F5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4F5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286317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Skill compiler &amp; replay — the learning loop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4F5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4F5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60987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Persistent memory + on-device validation of the full loop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4F5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4F5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4476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AXON-Bench, ablation matrix, user testing, thesis &amp; defence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4"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4EF"/>
                    </a:solidFill>
                  </a:tcPr>
                </a:tc>
                <a:tc gridSpan="2"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4E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4EF"/>
                    </a:solidFill>
                  </a:tcPr>
                </a:tc>
                <a:tc gridSpan="3"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4E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4E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4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7204901"/>
                  </a:ext>
                </a:extLst>
              </a:tr>
            </a:tbl>
          </a:graphicData>
        </a:graphic>
      </p:graphicFrame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94C8C4A-584C-EC4E-E0E2-9C5905E01B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Science, FCS&amp;IT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78B2D0-3E8D-11A5-4ACD-41944CA953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EC05BC-9E72-426D-91BE-7A46001AA6AD}" type="slidenum">
              <a:rPr lang="en-US" smtClean="0"/>
              <a:t>9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64B5067-D1BA-6A4B-B176-6CCA72428356}"/>
              </a:ext>
            </a:extLst>
          </p:cNvPr>
          <p:cNvSpPr txBox="1"/>
          <p:nvPr/>
        </p:nvSpPr>
        <p:spPr>
          <a:xfrm>
            <a:off x="1027522" y="1737360"/>
            <a:ext cx="98950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sz="1200" b="1">
                <a:solidFill>
                  <a:srgbClr val="156082"/>
                </a:solidFill>
              </a:rPr>
              <a:t>Two-semester plan. Tasks 1–7 are already complete (shaded darker) — the core contributions are built and measured on hardware; what remains is evaluation at scale, user testing and the thesis.</a:t>
            </a:r>
          </a:p>
        </p:txBody>
      </p:sp>
      <p:pic>
        <p:nvPicPr>
          <p:cNvPr id="8" name="Superior University Logo">
            <a:extLst>
              <a:ext uri="{FF2B5EF4-FFF2-40B4-BE49-F238E27FC236}">
                <a16:creationId xmlns:a16="http://schemas.microsoft.com/office/drawing/2014/main" id="{DEB9E963-CF87-2FE4-F0F3-286FA37B83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230188"/>
            <a:ext cx="731520" cy="7315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41248" y="592531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56082"/>
                </a:solidFill>
              </a:rPr>
              <a:t>■ shaded blue = completed   ■ shaded purple = remaining      Status at proposal stage: Phases 0–5 of 8 complete.</a:t>
            </a:r>
          </a:p>
        </p:txBody>
      </p:sp>
    </p:spTree>
    <p:extLst>
      <p:ext uri="{BB962C8B-B14F-4D97-AF65-F5344CB8AC3E}">
        <p14:creationId xmlns:p14="http://schemas.microsoft.com/office/powerpoint/2010/main" val="33851049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5837F8-C57B-414F-CACF-BBCE1A8ED2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F8FECE-01BD-3BE5-AF76-8ABC9A94A1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300"/>
              </a:spcAft>
            </a:pPr>
            <a:r>
              <a:rPr sz="1250" b="0">
                <a:solidFill>
                  <a:srgbClr val="1F1F1F"/>
                </a:solidFill>
              </a:rPr>
              <a:t>[1] G. Gerganov et al., "llama.cpp: LLM inference in C/C++," GitHub repository, 2026. [Online]. Available: https://github.com/ggml-org/llama.cpp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1F1F1F"/>
                </a:solidFill>
              </a:rPr>
              <a:t>[2] Y. Chen et al., "SkillDroid: Compile Once, Reuse Forever — Skill Compilation for Mobile GUI Agents," arXiv:2604.14872, Apr. 2026.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1F1F1F"/>
                </a:solidFill>
              </a:rPr>
              <a:t>[3] Zhipu AI, "AutoGLM: Autonomous Foundation Agents for GUIs," arXiv:2411.00820, 2024.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1F1F1F"/>
                </a:solidFill>
              </a:rPr>
              <a:t>[4] H. Wen et al., "AutoDroid: LLM-powered Task Automation in Android," in Proc. ACM MobiCom, 2024.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1F1F1F"/>
                </a:solidFill>
              </a:rPr>
              <a:t>[5] Google DeepMind, "Gemma 3: Lightweight Open Models for On-Device AI," Technical Report, 2025.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1F1F1F"/>
                </a:solidFill>
              </a:rPr>
              <a:t>[6] Google, "AccessibilityService — Android Developers," 2026. [Online]. Available: https://developer.android.com/reference/android/accessibilityservice/AccessibilityService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1F1F1F"/>
                </a:solidFill>
              </a:rPr>
              <a:t>[7] B. Dong et al., "XGrammar: Flexible and Efficient Structured Generation for LLMs," arXiv:2411.15100, 2024.</a:t>
            </a:r>
          </a:p>
          <a:p>
            <a:pPr>
              <a:spcAft>
                <a:spcPts val="300"/>
              </a:spcAft>
            </a:pPr>
            <a:r>
              <a:rPr sz="1250" b="0">
                <a:solidFill>
                  <a:srgbClr val="1F1F1F"/>
                </a:solidFill>
              </a:rPr>
              <a:t>[8] C. Rawles et al., "AndroidWorld: A Dynamic Benchmarking Environment for Autonomous Agents," in Proc. ICLR, 2025.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5B0417-7CC1-4A08-4F7B-E7EBE4D029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Science, FCS&amp;IT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7BCD45-7522-57AA-5328-214952200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EC05BC-9E72-426D-91BE-7A46001AA6AD}" type="slidenum">
              <a:rPr lang="en-US" smtClean="0"/>
              <a:t>10</a:t>
            </a:fld>
            <a:endParaRPr lang="en-US"/>
          </a:p>
        </p:txBody>
      </p:sp>
      <p:pic>
        <p:nvPicPr>
          <p:cNvPr id="7" name="Superior University Logo">
            <a:extLst>
              <a:ext uri="{FF2B5EF4-FFF2-40B4-BE49-F238E27FC236}">
                <a16:creationId xmlns:a16="http://schemas.microsoft.com/office/drawing/2014/main" id="{DBF5805A-B1A5-8628-03DF-CB592B4810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230188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50981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TIPS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You may add more slides depending on your project.</a:t>
            </a:r>
          </a:p>
          <a:p>
            <a:r>
              <a:rPr lang="en-US" dirty="0"/>
              <a:t>Only main headings of slides are part of format.  You will change sub-headings in each slide </a:t>
            </a:r>
          </a:p>
          <a:p>
            <a:r>
              <a:rPr lang="en-US" dirty="0"/>
              <a:t>Limit number of words on slides. Use key phrases only. </a:t>
            </a:r>
          </a:p>
          <a:p>
            <a:r>
              <a:rPr lang="en-US" dirty="0"/>
              <a:t>Use good quality images (text in images should be readable)</a:t>
            </a:r>
          </a:p>
          <a:p>
            <a:r>
              <a:rPr lang="en-US" dirty="0"/>
              <a:t>Make sure to Label your graphs, and axis.</a:t>
            </a:r>
          </a:p>
          <a:p>
            <a:r>
              <a:rPr lang="en-US" dirty="0"/>
              <a:t>Time your presentation. Practice first.  </a:t>
            </a:r>
          </a:p>
          <a:p>
            <a:endParaRPr lang="en-US" dirty="0"/>
          </a:p>
          <a:p>
            <a:pPr marL="0" indent="0" algn="ctr">
              <a:buNone/>
            </a:pPr>
            <a:r>
              <a:rPr lang="en-US" dirty="0"/>
              <a:t>GOOD LUCK!!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BE4677-5197-A20B-59EB-777C8D9941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Science, FCS&amp;IT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D91FB2-0B65-09D3-1315-48F1C80574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EC05BC-9E72-426D-91BE-7A46001AA6AD}" type="slidenum">
              <a:rPr lang="en-US" smtClean="0"/>
              <a:t>11</a:t>
            </a:fld>
            <a:endParaRPr lang="en-US"/>
          </a:p>
        </p:txBody>
      </p:sp>
      <p:pic>
        <p:nvPicPr>
          <p:cNvPr id="5" name="Superior University Logo">
            <a:extLst>
              <a:ext uri="{FF2B5EF4-FFF2-40B4-BE49-F238E27FC236}">
                <a16:creationId xmlns:a16="http://schemas.microsoft.com/office/drawing/2014/main" id="{36EE0F3D-6531-1962-D8D2-E9D3A498BC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230188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7777192"/>
      </p:ext>
    </p:extLst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/>
              <a:t>Progress &amp; Early Results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CB9670-D0E7-D3C6-2729-5DCC492CA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Computer Science, FCS&amp;IT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997186-5D88-E7C8-A068-197931D718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EC05BC-9E72-426D-91BE-7A46001AA6AD}" type="slidenum">
              <a:rPr lang="en-US" smtClean="0"/>
              <a:t>6</a:t>
            </a:fld>
            <a:endParaRPr lang="en-US"/>
          </a:p>
        </p:txBody>
      </p:sp>
      <p:pic>
        <p:nvPicPr>
          <p:cNvPr id="5" name="Superior University Logo">
            <a:extLst>
              <a:ext uri="{FF2B5EF4-FFF2-40B4-BE49-F238E27FC236}">
                <a16:creationId xmlns:a16="http://schemas.microsoft.com/office/drawing/2014/main" id="{3218363A-2034-584E-D455-9CF4A11AE1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230188"/>
            <a:ext cx="731520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1248" y="1737360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56082"/>
                </a:solidFill>
              </a:rPr>
              <a:t>Running on a ₨40,000 phone, driving a real app. Every number below was measured, not estimated.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121408"/>
            <a:ext cx="2542032" cy="1417320"/>
          </a:xfrm>
          <a:prstGeom prst="roundRect">
            <a:avLst/>
          </a:prstGeom>
          <a:solidFill>
            <a:srgbClr val="1E7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FFFFFF"/>
                </a:solidFill>
              </a:rPr>
              <a:t>0</a:t>
            </a:r>
          </a:p>
          <a:p>
            <a:pPr algn="ctr"/>
            <a:r>
              <a:rPr sz="1200" b="1">
                <a:solidFill>
                  <a:srgbClr val="FFFFFF"/>
                </a:solidFill>
              </a:rPr>
              <a:t>AI calls on replay</a:t>
            </a:r>
          </a:p>
          <a:p>
            <a:pPr algn="ctr"/>
            <a:r>
              <a:rPr sz="900">
                <a:solidFill>
                  <a:srgbClr val="FFFFFF"/>
                </a:solidFill>
              </a:rPr>
              <a:t>confirmed on a live app — not simulated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93008" y="2121408"/>
            <a:ext cx="2542032" cy="1417320"/>
          </a:xfrm>
          <a:prstGeom prst="roundRect">
            <a:avLst/>
          </a:prstGeom>
          <a:solidFill>
            <a:srgbClr val="A02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FFFFFF"/>
                </a:solidFill>
              </a:rPr>
              <a:t>29×</a:t>
            </a:r>
          </a:p>
          <a:p>
            <a:pPr algn="ctr"/>
            <a:r>
              <a:rPr sz="1200" b="1">
                <a:solidFill>
                  <a:srgbClr val="FFFFFF"/>
                </a:solidFill>
              </a:rPr>
              <a:t>faster, end to end</a:t>
            </a:r>
          </a:p>
          <a:p>
            <a:pPr algn="ctr"/>
            <a:r>
              <a:rPr sz="900">
                <a:solidFill>
                  <a:srgbClr val="FFFFFF"/>
                </a:solidFill>
              </a:rPr>
              <a:t>66 s planned  ➜  2.3 s replayed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44768" y="2121408"/>
            <a:ext cx="2542032" cy="1417320"/>
          </a:xfrm>
          <a:prstGeom prst="round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FFFFFF"/>
                </a:solidFill>
              </a:rPr>
              <a:t>100%</a:t>
            </a:r>
          </a:p>
          <a:p>
            <a:pPr algn="ctr"/>
            <a:r>
              <a:rPr sz="1200" b="1">
                <a:solidFill>
                  <a:srgbClr val="FFFFFF"/>
                </a:solidFill>
              </a:rPr>
              <a:t>valid actions</a:t>
            </a:r>
          </a:p>
          <a:p>
            <a:pPr algn="ctr"/>
            <a:r>
              <a:rPr sz="900">
                <a:solidFill>
                  <a:srgbClr val="FFFFFF"/>
                </a:solidFill>
              </a:rPr>
              <a:t>vs 46.2% without our grammar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796528" y="2121408"/>
            <a:ext cx="2542032" cy="1417320"/>
          </a:xfrm>
          <a:prstGeom prst="roundRect">
            <a:avLst/>
          </a:prstGeom>
          <a:solidFill>
            <a:srgbClr val="B4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FFFFFF"/>
                </a:solidFill>
              </a:rPr>
              <a:t>39 ms</a:t>
            </a:r>
          </a:p>
          <a:p>
            <a:pPr algn="ctr"/>
            <a:r>
              <a:rPr sz="1200" b="1">
                <a:solidFill>
                  <a:srgbClr val="FFFFFF"/>
                </a:solidFill>
              </a:rPr>
              <a:t>to remember</a:t>
            </a:r>
          </a:p>
          <a:p>
            <a:pPr algn="ctr"/>
            <a:r>
              <a:rPr sz="900">
                <a:solidFill>
                  <a:srgbClr val="FFFFFF"/>
                </a:solidFill>
              </a:rPr>
              <a:t>learning survives the app being killed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56616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56082"/>
                </a:solidFill>
              </a:rPr>
              <a:t>Working today on the TECNO Camon 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3858768"/>
            <a:ext cx="52120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50"/>
              <a:t>✓  On-device inference — Gemma 3 1B, fully offline, no network permission</a:t>
            </a:r>
          </a:p>
          <a:p>
            <a:pPr>
              <a:spcAft>
                <a:spcPts val="300"/>
              </a:spcAft>
            </a:pPr>
            <a:r>
              <a:rPr sz="1150"/>
              <a:t>✓  Grammar-constrained action generation (GBNF) — 100% valid</a:t>
            </a:r>
          </a:p>
          <a:p>
            <a:pPr>
              <a:spcAft>
                <a:spcPts val="300"/>
              </a:spcAft>
            </a:pPr>
            <a:r>
              <a:rPr sz="1150"/>
              <a:t>✓  Screen perception via AccessibilityService, with credential fields refused</a:t>
            </a:r>
          </a:p>
          <a:p>
            <a:pPr>
              <a:spcAft>
                <a:spcPts val="300"/>
              </a:spcAft>
            </a:pPr>
            <a:r>
              <a:rPr sz="1150"/>
              <a:t>✓  Precondition gate, deterministic verifier, self-healing loop</a:t>
            </a:r>
          </a:p>
          <a:p>
            <a:pPr>
              <a:spcAft>
                <a:spcPts val="300"/>
              </a:spcAft>
            </a:pPr>
            <a:r>
              <a:rPr sz="1150"/>
              <a:t>✓  Learns a task, then repeats it with no AI — verified on WhatsApp</a:t>
            </a:r>
          </a:p>
          <a:p>
            <a:pPr>
              <a:spcAft>
                <a:spcPts val="300"/>
              </a:spcAft>
            </a:pPr>
            <a:r>
              <a:rPr sz="1150"/>
              <a:t>✓  Remembers what it learned in SQLite — survives reboot and force-stop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35661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56082"/>
                </a:solidFill>
              </a:rPr>
              <a:t>Engineering evidence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3858768"/>
            <a:ext cx="51206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A02B93"/>
                </a:solidFill>
              </a:rPr>
              <a:t>158   </a:t>
            </a:r>
            <a:r>
              <a:rPr sz="1150"/>
              <a:t>automated tests passing — 0 failures, none needing a phone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A02B93"/>
                </a:solidFill>
              </a:rPr>
              <a:t>12   </a:t>
            </a:r>
            <a:r>
              <a:rPr sz="1150"/>
              <a:t>documented design decisions, each with evidence and how to reverse it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A02B93"/>
                </a:solidFill>
              </a:rPr>
              <a:t>20   </a:t>
            </a:r>
            <a:r>
              <a:rPr sz="1150"/>
              <a:t>logged experiments with full provenance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A02B93"/>
                </a:solidFill>
              </a:rPr>
              <a:t>1   </a:t>
            </a:r>
            <a:r>
              <a:rPr sz="1150"/>
              <a:t>experiment we VOIDED ourselves after finding our own baseline was unfair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57607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E7A5E"/>
                </a:solidFill>
              </a:rPr>
              <a:t>Measured on the device, we found our strongest safeguard had never actually run — Android was silently hiding the data it needed. It passed every unit test. Tests prove code is correct, not that it is reachable.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182</TotalTime>
  <Words>560</Words>
  <Application>Microsoft Office PowerPoint</Application>
  <PresentationFormat>Widescreen</PresentationFormat>
  <Paragraphs>131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20" baseType="lpstr">
      <vt:lpstr>Aptos</vt:lpstr>
      <vt:lpstr>Aptos Display</vt:lpstr>
      <vt:lpstr>Arial</vt:lpstr>
      <vt:lpstr>Calibri</vt:lpstr>
      <vt:lpstr>Courier New</vt:lpstr>
      <vt:lpstr>Georgia</vt:lpstr>
      <vt:lpstr>Segoe UI</vt:lpstr>
      <vt:lpstr>Times New Roman</vt:lpstr>
      <vt:lpstr>Office Theme</vt:lpstr>
      <vt:lpstr>PowerPoint Presentation</vt:lpstr>
      <vt:lpstr>Introduction</vt:lpstr>
      <vt:lpstr>Background</vt:lpstr>
      <vt:lpstr>Problem Statement</vt:lpstr>
      <vt:lpstr>Aims &amp; Objectives</vt:lpstr>
      <vt:lpstr>Literature Study</vt:lpstr>
      <vt:lpstr>Methodology </vt:lpstr>
      <vt:lpstr>Proposed Design Block Diagram</vt:lpstr>
      <vt:lpstr>Project Timeline</vt:lpstr>
      <vt:lpstr>References. </vt:lpstr>
      <vt:lpstr>TIPS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Engr. Hamza Toor</dc:creator>
  <cp:lastModifiedBy>Dr. Muhammad Abdul Rehman</cp:lastModifiedBy>
  <cp:revision>20</cp:revision>
  <dcterms:created xsi:type="dcterms:W3CDTF">2022-08-08T19:13:11Z</dcterms:created>
  <dcterms:modified xsi:type="dcterms:W3CDTF">2026-08-11T06:05:43Z</dcterms:modified>
</cp:coreProperties>
</file>